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Voxa is a voice-first AI assistant for real estate agents, on iPhone and iPad, powered by AI: you just say it.
Sources: eriqbre/voxa-spec PR #232 (iPhone + iPad app). Screen: Simulator, Trusted friend conversation opening.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an agent's week isn't selling; it's building and sticking to a marketing plan, daily posts, open house prep, replies and follow-ups scattered across texts, email, calendar and social.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Voxa pulls out only what needs you today. Voxa drafts; you decide. Nothing sends or posts without your tap.
The cards on the left are an illustration, not a screenshot. Sources: eriqbre/voxa-spec PRs #244/#245 (never posts on its own), #319 (staged events and reminders).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preview, not shipped yet; prototype screens with example data. You don’t need perfect words. Talk the way you normally do, ums and all, and Voxa works out what you mean. It checks your calendar before booking: Friday at 2 clashes with a showing, so it offers noon or anytime Saturday. Pick noon and it fills in an event card, Lunch with client, Fri 12:00 PM, with an Add to calendar button for you to tap.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Voxa opens with a couple of ideas, pushes back when it should, and stages events and reminders you add with one tap, with Undo.
Sources: eriqbre/voxa-spec PRs #319/#320/#322 (Trusted friend).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goals interview becomes a 90-day plan, and the drafts sound like you, with photos and sources. You tap to post; Voxa never posts on its own.
Sources: eriqbre/voxa-spec PRs #257/#276/#285 (goals interview, 90-day plan), #256 (learns voice), #244/#245 (AI posts with sources, never posts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about your inbox by voice. Voxa tags each email to the listing it belongs to and summarizes documents, like contract highlights. Summaries are not legal advice.
Sources: eriqbre/voxa-spec PRs #316/#321 (mail tagging, document summaries).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Voxa remembers your preferences, and you can see, edit or forget any of them. Memory storage is off until you turn it on.
Sources: eriqbre/voxa-spec PRs #319/#320/#322 (memory, privacy off by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design preview, not shipped: a Home screen with everything that needs you today, plus open house and showing workflows. Prototype screens, example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you speak, Voxa does the work, you approve. What you say is sent to our AI provider so it can reply.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Scan to join the waitlist at eriqbre.github.io/voxa-site, and ask me for a demo.
QR decodes to https://eriqbre.github.io/voxa-site/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eriqbre.github.io/voxa-site/" TargetMode="External"/><Relationship Id="rId1"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F7F4"/>
        </a:solidFill>
      </p:bgPr>
    </p:bg>
    <p:spTree>
      <p:nvGrpSpPr>
        <p:cNvPr id="1" name=""/>
        <p:cNvGrpSpPr/>
        <p:nvPr/>
      </p:nvGrpSpPr>
      <p:grpSpPr>
        <a:xfrm>
          <a:off x="0" y="0"/>
          <a:ext cx="0" cy="0"/>
          <a:chOff x="0" y="0"/>
          <a:chExt cx="0" cy="0"/>
        </a:xfrm>
      </p:grpSpPr>
      <p:sp>
        <p:nvSpPr>
          <p:cNvPr id="2" name="Shape 0"/>
          <p:cNvSpPr/>
          <p:nvPr/>
        </p:nvSpPr>
        <p:spPr>
          <a:xfrm>
            <a:off x="6720840" y="457200"/>
            <a:ext cx="5010912" cy="5943600"/>
          </a:xfrm>
          <a:prstGeom prst="roundRect">
            <a:avLst>
              <a:gd name="adj" fmla="val 6387"/>
            </a:avLst>
          </a:prstGeom>
          <a:solidFill>
            <a:srgbClr val="0F5A4F"/>
          </a:solidFill>
          <a:ln/>
        </p:spPr>
      </p:sp>
      <p:sp>
        <p:nvSpPr>
          <p:cNvPr id="3" name="Shape 1"/>
          <p:cNvSpPr/>
          <p:nvPr/>
        </p:nvSpPr>
        <p:spPr>
          <a:xfrm>
            <a:off x="7498080" y="1097280"/>
            <a:ext cx="3474720" cy="3474720"/>
          </a:xfrm>
          <a:prstGeom prst="ellipse">
            <a:avLst/>
          </a:prstGeom>
          <a:solidFill>
            <a:srgbClr val="137565"/>
          </a:solidFill>
          <a:ln/>
        </p:spPr>
      </p:sp>
      <p:pic>
        <p:nvPicPr>
          <p:cNvPr id="4" name="Image 0" descr="/workspace/slides/voxa-pitch-CTbDK0/assets/ph-hero.png">    </p:cNvPr>
          <p:cNvPicPr>
            <a:picLocks noChangeAspect="1"/>
          </p:cNvPicPr>
          <p:nvPr/>
        </p:nvPicPr>
        <p:blipFill>
          <a:blip r:embed="rId1"/>
          <a:stretch>
            <a:fillRect/>
          </a:stretch>
        </p:blipFill>
        <p:spPr>
          <a:xfrm>
            <a:off x="7758684" y="594360"/>
            <a:ext cx="2935224" cy="5669280"/>
          </a:xfrm>
          <a:prstGeom prst="rect">
            <a:avLst/>
          </a:prstGeom>
        </p:spPr>
      </p:pic>
      <p:pic>
        <p:nvPicPr>
          <p:cNvPr id="5" name="Image 1" descr="/workspace/slides/voxa-pitch-CTbDK0/assets/voxa-mark.png">    </p:cNvPr>
          <p:cNvPicPr>
            <a:picLocks noChangeAspect="1"/>
          </p:cNvPicPr>
          <p:nvPr/>
        </p:nvPicPr>
        <p:blipFill>
          <a:blip r:embed="rId2"/>
          <a:stretch>
            <a:fillRect/>
          </a:stretch>
        </p:blipFill>
        <p:spPr>
          <a:xfrm>
            <a:off x="685800" y="685800"/>
            <a:ext cx="566928" cy="566928"/>
          </a:xfrm>
          <a:prstGeom prst="rect">
            <a:avLst/>
          </a:prstGeom>
        </p:spPr>
      </p:pic>
      <p:sp>
        <p:nvSpPr>
          <p:cNvPr id="6" name="Text 2"/>
          <p:cNvSpPr/>
          <p:nvPr/>
        </p:nvSpPr>
        <p:spPr>
          <a:xfrm>
            <a:off x="1371600" y="667512"/>
            <a:ext cx="2743200" cy="603504"/>
          </a:xfrm>
          <a:prstGeom prst="rect">
            <a:avLst/>
          </a:prstGeom>
          <a:noFill/>
          <a:ln/>
        </p:spPr>
        <p:txBody>
          <a:bodyPr wrap="square" lIns="0" tIns="0" rIns="0" bIns="0" rtlCol="0" anchor="ctr"/>
          <a:lstStyle/>
          <a:p>
            <a:pPr indent="0" marL="0">
              <a:buNone/>
            </a:pPr>
            <a:r>
              <a:rPr lang="en-US" sz="3000" b="1" dirty="0">
                <a:solidFill>
                  <a:srgbClr val="10201C"/>
                </a:solidFill>
                <a:latin typeface="Fraunces" pitchFamily="34" charset="0"/>
                <a:ea typeface="Fraunces" pitchFamily="34" charset="-122"/>
                <a:cs typeface="Fraunces" pitchFamily="34" charset="-120"/>
              </a:rPr>
              <a:t>Voxa</a:t>
            </a:r>
            <a:endParaRPr lang="en-US" sz="3000" dirty="0"/>
          </a:p>
        </p:txBody>
      </p:sp>
      <p:sp>
        <p:nvSpPr>
          <p:cNvPr id="7" name="Text 3"/>
          <p:cNvSpPr/>
          <p:nvPr/>
        </p:nvSpPr>
        <p:spPr>
          <a:xfrm>
            <a:off x="685800" y="2057400"/>
            <a:ext cx="6035040" cy="2103120"/>
          </a:xfrm>
          <a:prstGeom prst="rect">
            <a:avLst/>
          </a:prstGeom>
          <a:noFill/>
          <a:ln/>
        </p:spPr>
        <p:txBody>
          <a:bodyPr wrap="square" lIns="0" tIns="0" rIns="0" bIns="0" rtlCol="0" anchor="t"/>
          <a:lstStyle/>
          <a:p>
            <a:pPr indent="0" marL="0">
              <a:lnSpc>
                <a:spcPct val="98000"/>
              </a:lnSpc>
              <a:buNone/>
            </a:pPr>
            <a:r>
              <a:rPr lang="en-US" sz="6000" b="1" dirty="0">
                <a:solidFill>
                  <a:srgbClr val="10201C"/>
                </a:solidFill>
                <a:latin typeface="Fraunces" pitchFamily="34" charset="0"/>
                <a:ea typeface="Fraunces" pitchFamily="34" charset="-122"/>
                <a:cs typeface="Fraunces" pitchFamily="34" charset="-120"/>
              </a:rPr>
              <a:t>Just say it.</a:t>
            </a:r>
            <a:endParaRPr lang="en-US" sz="6000" dirty="0"/>
          </a:p>
          <a:p>
            <a:pPr indent="0" marL="0">
              <a:lnSpc>
                <a:spcPct val="98000"/>
              </a:lnSpc>
              <a:buNone/>
            </a:pPr>
            <a:r>
              <a:rPr lang="en-US" sz="6000" b="1" dirty="0">
                <a:solidFill>
                  <a:srgbClr val="0F5A4F"/>
                </a:solidFill>
                <a:latin typeface="Fraunces" pitchFamily="34" charset="0"/>
                <a:ea typeface="Fraunces" pitchFamily="34" charset="-122"/>
                <a:cs typeface="Fraunces" pitchFamily="34" charset="-120"/>
              </a:rPr>
              <a:t>Voxa handles it.</a:t>
            </a:r>
            <a:endParaRPr lang="en-US" sz="6000" dirty="0"/>
          </a:p>
        </p:txBody>
      </p:sp>
      <p:sp>
        <p:nvSpPr>
          <p:cNvPr id="8" name="Text 4"/>
          <p:cNvSpPr/>
          <p:nvPr/>
        </p:nvSpPr>
        <p:spPr>
          <a:xfrm>
            <a:off x="685800" y="4343400"/>
            <a:ext cx="5943600" cy="822960"/>
          </a:xfrm>
          <a:prstGeom prst="rect">
            <a:avLst/>
          </a:prstGeom>
          <a:noFill/>
          <a:ln/>
        </p:spPr>
        <p:txBody>
          <a:bodyPr wrap="square" lIns="0" tIns="0" rIns="0" bIns="0" rtlCol="0" anchor="t"/>
          <a:lstStyle/>
          <a:p>
            <a:pPr indent="0" marL="0">
              <a:lnSpc>
                <a:spcPct val="130000"/>
              </a:lnSpc>
              <a:buNone/>
            </a:pPr>
            <a:r>
              <a:rPr lang="en-US" sz="2000" dirty="0">
                <a:solidFill>
                  <a:srgbClr val="3E504B"/>
                </a:solidFill>
                <a:latin typeface="Manrope" pitchFamily="34" charset="0"/>
                <a:ea typeface="Manrope" pitchFamily="34" charset="-122"/>
                <a:cs typeface="Manrope" pitchFamily="34" charset="-120"/>
              </a:rPr>
              <a:t>A voice-first AI assistant for real estate agents.</a:t>
            </a:r>
            <a:endParaRPr lang="en-US" sz="2000" dirty="0"/>
          </a:p>
        </p:txBody>
      </p:sp>
      <p:sp>
        <p:nvSpPr>
          <p:cNvPr id="9" name="Shape 5"/>
          <p:cNvSpPr/>
          <p:nvPr/>
        </p:nvSpPr>
        <p:spPr>
          <a:xfrm>
            <a:off x="685800" y="5349240"/>
            <a:ext cx="2011680" cy="457200"/>
          </a:xfrm>
          <a:prstGeom prst="roundRect">
            <a:avLst>
              <a:gd name="adj" fmla="val 50000"/>
            </a:avLst>
          </a:prstGeom>
          <a:solidFill>
            <a:srgbClr val="FFFFFF"/>
          </a:solidFill>
          <a:ln w="12700">
            <a:solidFill>
              <a:srgbClr val="0F5A4F"/>
            </a:solidFill>
            <a:prstDash val="solid"/>
          </a:ln>
        </p:spPr>
      </p:sp>
      <p:sp>
        <p:nvSpPr>
          <p:cNvPr id="10" name="Text 6"/>
          <p:cNvSpPr/>
          <p:nvPr/>
        </p:nvSpPr>
        <p:spPr>
          <a:xfrm>
            <a:off x="868680" y="5349240"/>
            <a:ext cx="1645920" cy="457200"/>
          </a:xfrm>
          <a:prstGeom prst="rect">
            <a:avLst/>
          </a:prstGeom>
          <a:noFill/>
          <a:ln/>
        </p:spPr>
        <p:txBody>
          <a:bodyPr wrap="square" lIns="0" tIns="0" rIns="0" bIns="0" rtlCol="0" anchor="ctr"/>
          <a:lstStyle/>
          <a:p>
            <a:pPr algn="ctr" indent="0" marL="0">
              <a:buNone/>
            </a:pPr>
            <a:r>
              <a:rPr lang="en-US" sz="1400" b="1" dirty="0">
                <a:solidFill>
                  <a:srgbClr val="0F5A4F"/>
                </a:solidFill>
                <a:latin typeface="Manrope" pitchFamily="34" charset="0"/>
                <a:ea typeface="Manrope" pitchFamily="34" charset="-122"/>
                <a:cs typeface="Manrope" pitchFamily="34" charset="-120"/>
              </a:rPr>
              <a:t>iPhone + iPad</a:t>
            </a:r>
            <a:endParaRPr lang="en-US" sz="1400" dirty="0"/>
          </a:p>
        </p:txBody>
      </p:sp>
      <p:sp>
        <p:nvSpPr>
          <p:cNvPr id="11" name="Shape 7"/>
          <p:cNvSpPr/>
          <p:nvPr/>
        </p:nvSpPr>
        <p:spPr>
          <a:xfrm>
            <a:off x="2834640" y="5349240"/>
            <a:ext cx="2331720" cy="457200"/>
          </a:xfrm>
          <a:prstGeom prst="roundRect">
            <a:avLst>
              <a:gd name="adj" fmla="val 50000"/>
            </a:avLst>
          </a:prstGeom>
          <a:solidFill>
            <a:srgbClr val="0F5A4F"/>
          </a:solidFill>
          <a:ln w="12700">
            <a:solidFill>
              <a:srgbClr val="0F5A4F"/>
            </a:solidFill>
            <a:prstDash val="solid"/>
          </a:ln>
        </p:spPr>
      </p:sp>
      <p:sp>
        <p:nvSpPr>
          <p:cNvPr id="12" name="Text 8"/>
          <p:cNvSpPr/>
          <p:nvPr/>
        </p:nvSpPr>
        <p:spPr>
          <a:xfrm>
            <a:off x="3017520" y="5349240"/>
            <a:ext cx="196596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anrope" pitchFamily="34" charset="0"/>
                <a:ea typeface="Manrope" pitchFamily="34" charset="-122"/>
                <a:cs typeface="Manrope" pitchFamily="34" charset="-120"/>
              </a:rPr>
              <a:t>Powered by AI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7"/>
        </a:solidFill>
      </p:bgPr>
    </p:bg>
    <p:spTree>
      <p:nvGrpSpPr>
        <p:cNvPr id="1" name=""/>
        <p:cNvGrpSpPr/>
        <p:nvPr/>
      </p:nvGrpSpPr>
      <p:grpSpPr>
        <a:xfrm>
          <a:off x="0" y="0"/>
          <a:ext cx="0" cy="0"/>
          <a:chOff x="0" y="0"/>
          <a:chExt cx="0" cy="0"/>
        </a:xfrm>
      </p:grpSpPr>
      <p:pic>
        <p:nvPicPr>
          <p:cNvPr id="2" name="Image 0" descr="/workspace/slides/voxa-pitch-CTbDK0/assets/voxa-mark.png">    </p:cNvPr>
          <p:cNvPicPr>
            <a:picLocks noChangeAspect="1"/>
          </p:cNvPicPr>
          <p:nvPr/>
        </p:nvPicPr>
        <p:blipFill>
          <a:blip r:embed="rId1"/>
          <a:stretch>
            <a:fillRect/>
          </a:stretch>
        </p:blipFill>
        <p:spPr>
          <a:xfrm>
            <a:off x="548640" y="384048"/>
            <a:ext cx="329184" cy="329184"/>
          </a:xfrm>
          <a:prstGeom prst="rect">
            <a:avLst/>
          </a:prstGeom>
        </p:spPr>
      </p:pic>
      <p:sp>
        <p:nvSpPr>
          <p:cNvPr id="3" name="Text 0"/>
          <p:cNvSpPr/>
          <p:nvPr/>
        </p:nvSpPr>
        <p:spPr>
          <a:xfrm>
            <a:off x="969264" y="365760"/>
            <a:ext cx="1371600" cy="365760"/>
          </a:xfrm>
          <a:prstGeom prst="rect">
            <a:avLst/>
          </a:prstGeom>
          <a:noFill/>
          <a:ln/>
        </p:spPr>
        <p:txBody>
          <a:bodyPr wrap="square" lIns="0" tIns="0" rIns="0" bIns="0" rtlCol="0" anchor="ctr"/>
          <a:lstStyle/>
          <a:p>
            <a:pPr indent="0" marL="0">
              <a:buNone/>
            </a:pPr>
            <a:r>
              <a:rPr lang="en-US" sz="1700" b="1" dirty="0">
                <a:solidFill>
                  <a:srgbClr val="10201C"/>
                </a:solidFill>
                <a:latin typeface="Fraunces" pitchFamily="34" charset="0"/>
                <a:ea typeface="Fraunces" pitchFamily="34" charset="-122"/>
                <a:cs typeface="Fraunces" pitchFamily="34" charset="-120"/>
              </a:rPr>
              <a:t>Voxa</a:t>
            </a:r>
            <a:endParaRPr lang="en-US" sz="1700" dirty="0"/>
          </a:p>
        </p:txBody>
      </p:sp>
      <p:sp>
        <p:nvSpPr>
          <p:cNvPr id="4" name="Text 1"/>
          <p:cNvSpPr/>
          <p:nvPr/>
        </p:nvSpPr>
        <p:spPr>
          <a:xfrm>
            <a:off x="10241280" y="365760"/>
            <a:ext cx="1399032" cy="365760"/>
          </a:xfrm>
          <a:prstGeom prst="rect">
            <a:avLst/>
          </a:prstGeom>
          <a:noFill/>
          <a:ln/>
        </p:spPr>
        <p:txBody>
          <a:bodyPr wrap="square" lIns="0" tIns="0" rIns="0" bIns="0" rtlCol="0" anchor="ctr"/>
          <a:lstStyle/>
          <a:p>
            <a:pPr algn="r" indent="0" marL="0">
              <a:buNone/>
            </a:pPr>
            <a:r>
              <a:rPr lang="en-US" sz="1100" dirty="0">
                <a:solidFill>
                  <a:srgbClr val="6B7C77"/>
                </a:solidFill>
                <a:latin typeface="Manrope" pitchFamily="34" charset="0"/>
                <a:ea typeface="Manrope" pitchFamily="34" charset="-122"/>
                <a:cs typeface="Manrope" pitchFamily="34" charset="-120"/>
              </a:rPr>
              <a:t>02 / 11</a:t>
            </a:r>
            <a:endParaRPr lang="en-US" sz="1100" dirty="0"/>
          </a:p>
        </p:txBody>
      </p:sp>
      <p:sp>
        <p:nvSpPr>
          <p:cNvPr id="5" name="Text 2"/>
          <p:cNvSpPr/>
          <p:nvPr/>
        </p:nvSpPr>
        <p:spPr>
          <a:xfrm>
            <a:off x="685800" y="1325880"/>
            <a:ext cx="4572000" cy="274320"/>
          </a:xfrm>
          <a:prstGeom prst="rect">
            <a:avLst/>
          </a:prstGeom>
          <a:noFill/>
          <a:ln/>
        </p:spPr>
        <p:txBody>
          <a:bodyPr wrap="square" lIns="0" tIns="0" rIns="0" bIns="0" rtlCol="0" anchor="t"/>
          <a:lstStyle/>
          <a:p>
            <a:pPr indent="0" marL="0">
              <a:buNone/>
            </a:pPr>
            <a:r>
              <a:rPr lang="en-US" sz="1200" b="1" spc="250" kern="0" dirty="0">
                <a:solidFill>
                  <a:srgbClr val="1D9A84"/>
                </a:solidFill>
                <a:latin typeface="Manrope" pitchFamily="34" charset="0"/>
                <a:ea typeface="Manrope" pitchFamily="34" charset="-122"/>
                <a:cs typeface="Manrope" pitchFamily="34" charset="-120"/>
              </a:rPr>
              <a:t>THE PROBLEM</a:t>
            </a:r>
            <a:endParaRPr lang="en-US" sz="1200" dirty="0"/>
          </a:p>
        </p:txBody>
      </p:sp>
      <p:sp>
        <p:nvSpPr>
          <p:cNvPr id="6" name="Text 3"/>
          <p:cNvSpPr/>
          <p:nvPr/>
        </p:nvSpPr>
        <p:spPr>
          <a:xfrm>
            <a:off x="685800" y="1691640"/>
            <a:ext cx="4937760" cy="2194560"/>
          </a:xfrm>
          <a:prstGeom prst="rect">
            <a:avLst/>
          </a:prstGeom>
          <a:noFill/>
          <a:ln/>
        </p:spPr>
        <p:txBody>
          <a:bodyPr wrap="square" lIns="0" tIns="0" rIns="0" bIns="0" rtlCol="0" anchor="t"/>
          <a:lstStyle/>
          <a:p>
            <a:pPr indent="0" marL="0">
              <a:buNone/>
            </a:pPr>
            <a:r>
              <a:rPr lang="en-US" sz="4000" b="1" dirty="0">
                <a:solidFill>
                  <a:srgbClr val="10201C"/>
                </a:solidFill>
                <a:latin typeface="Fraunces" pitchFamily="34" charset="0"/>
                <a:ea typeface="Fraunces" pitchFamily="34" charset="-122"/>
                <a:cs typeface="Fraunces" pitchFamily="34" charset="-120"/>
              </a:rPr>
              <a:t>You're a realtor, not a marketing department.</a:t>
            </a:r>
            <a:endParaRPr lang="en-US" sz="4000" dirty="0"/>
          </a:p>
        </p:txBody>
      </p:sp>
      <p:sp>
        <p:nvSpPr>
          <p:cNvPr id="7" name="Text 4"/>
          <p:cNvSpPr/>
          <p:nvPr/>
        </p:nvSpPr>
        <p:spPr>
          <a:xfrm>
            <a:off x="685800" y="4069080"/>
            <a:ext cx="4572000" cy="1097280"/>
          </a:xfrm>
          <a:prstGeom prst="rect">
            <a:avLst/>
          </a:prstGeom>
          <a:noFill/>
          <a:ln/>
        </p:spPr>
        <p:txBody>
          <a:bodyPr wrap="square" lIns="0" tIns="0" rIns="0" bIns="0" rtlCol="0" anchor="t"/>
          <a:lstStyle/>
          <a:p>
            <a:pPr indent="0" marL="0">
              <a:lnSpc>
                <a:spcPct val="130000"/>
              </a:lnSpc>
              <a:buNone/>
            </a:pPr>
            <a:r>
              <a:rPr lang="en-US" sz="1900" dirty="0">
                <a:solidFill>
                  <a:srgbClr val="3E504B"/>
                </a:solidFill>
                <a:latin typeface="Manrope" pitchFamily="34" charset="0"/>
                <a:ea typeface="Manrope" pitchFamily="34" charset="-122"/>
                <a:cs typeface="Manrope" pitchFamily="34" charset="-120"/>
              </a:rPr>
              <a:t>The work that needs you is buried across texts, email, calendar and social.</a:t>
            </a:r>
            <a:endParaRPr lang="en-US" sz="1900" dirty="0"/>
          </a:p>
        </p:txBody>
      </p:sp>
      <p:sp>
        <p:nvSpPr>
          <p:cNvPr id="8" name="Shape 5"/>
          <p:cNvSpPr/>
          <p:nvPr/>
        </p:nvSpPr>
        <p:spPr>
          <a:xfrm>
            <a:off x="5897880" y="1188720"/>
            <a:ext cx="5742432" cy="841248"/>
          </a:xfrm>
          <a:prstGeom prst="roundRect">
            <a:avLst>
              <a:gd name="adj" fmla="val 21739"/>
            </a:avLst>
          </a:prstGeom>
          <a:solidFill>
            <a:srgbClr val="FFFFFF"/>
          </a:solidFill>
          <a:ln w="9525">
            <a:solidFill>
              <a:srgbClr val="DBE6E2"/>
            </a:solidFill>
            <a:prstDash val="solid"/>
          </a:ln>
          <a:effectLst>
            <a:outerShdw sx="100000" sy="100000" kx="0" ky="0" algn="bl" rotWithShape="0" blurRad="304800" dist="50800" dir="5400000">
              <a:srgbClr val="0F5A4F">
                <a:alpha val="10000"/>
              </a:srgbClr>
            </a:outerShdw>
          </a:effectLst>
        </p:spPr>
      </p:sp>
      <p:sp>
        <p:nvSpPr>
          <p:cNvPr id="9" name="Shape 6"/>
          <p:cNvSpPr/>
          <p:nvPr/>
        </p:nvSpPr>
        <p:spPr>
          <a:xfrm>
            <a:off x="6117336" y="1371600"/>
            <a:ext cx="475488" cy="475488"/>
          </a:xfrm>
          <a:prstGeom prst="roundRect">
            <a:avLst>
              <a:gd name="adj" fmla="val 26923"/>
            </a:avLst>
          </a:prstGeom>
          <a:solidFill>
            <a:srgbClr val="E3F1EC"/>
          </a:solidFill>
          <a:ln/>
        </p:spPr>
      </p:sp>
      <p:sp>
        <p:nvSpPr>
          <p:cNvPr id="10" name="Text 7"/>
          <p:cNvSpPr/>
          <p:nvPr/>
        </p:nvSpPr>
        <p:spPr>
          <a:xfrm>
            <a:off x="6117336" y="1371600"/>
            <a:ext cx="475488" cy="475488"/>
          </a:xfrm>
          <a:prstGeom prst="rect">
            <a:avLst/>
          </a:prstGeom>
          <a:noFill/>
          <a:ln/>
        </p:spPr>
        <p:txBody>
          <a:bodyPr wrap="square" lIns="0" tIns="0" rIns="0" bIns="0" rtlCol="0" anchor="ctr"/>
          <a:lstStyle/>
          <a:p>
            <a:pPr algn="ctr" indent="0" marL="0">
              <a:buNone/>
            </a:pPr>
            <a:r>
              <a:rPr lang="en-US" sz="1800" b="1" dirty="0">
                <a:solidFill>
                  <a:srgbClr val="0F5A4F"/>
                </a:solidFill>
                <a:latin typeface="Fraunces" pitchFamily="34" charset="0"/>
                <a:ea typeface="Fraunces" pitchFamily="34" charset="-122"/>
                <a:cs typeface="Fraunces" pitchFamily="34" charset="-120"/>
              </a:rPr>
              <a:t>1</a:t>
            </a:r>
            <a:endParaRPr lang="en-US" sz="1800" dirty="0"/>
          </a:p>
        </p:txBody>
      </p:sp>
      <p:sp>
        <p:nvSpPr>
          <p:cNvPr id="11" name="Text 8"/>
          <p:cNvSpPr/>
          <p:nvPr/>
        </p:nvSpPr>
        <p:spPr>
          <a:xfrm>
            <a:off x="6793992" y="1188720"/>
            <a:ext cx="3337560" cy="841248"/>
          </a:xfrm>
          <a:prstGeom prst="rect">
            <a:avLst/>
          </a:prstGeom>
          <a:noFill/>
          <a:ln/>
        </p:spPr>
        <p:txBody>
          <a:bodyPr wrap="square" lIns="0" tIns="0" rIns="0" bIns="0" rtlCol="0" anchor="ctr"/>
          <a:lstStyle/>
          <a:p>
            <a:pPr indent="0" marL="0">
              <a:buNone/>
            </a:pPr>
            <a:r>
              <a:rPr lang="en-US" sz="1650" b="1" dirty="0">
                <a:solidFill>
                  <a:srgbClr val="10201C"/>
                </a:solidFill>
                <a:latin typeface="Manrope" pitchFamily="34" charset="0"/>
                <a:ea typeface="Manrope" pitchFamily="34" charset="-122"/>
                <a:cs typeface="Manrope" pitchFamily="34" charset="-120"/>
              </a:rPr>
              <a:t>Building and sticking to a marketing plan</a:t>
            </a:r>
            <a:endParaRPr lang="en-US" sz="1650" dirty="0"/>
          </a:p>
        </p:txBody>
      </p:sp>
      <p:sp>
        <p:nvSpPr>
          <p:cNvPr id="12" name="Text 9"/>
          <p:cNvSpPr/>
          <p:nvPr/>
        </p:nvSpPr>
        <p:spPr>
          <a:xfrm>
            <a:off x="10195560" y="1188720"/>
            <a:ext cx="1234440" cy="841248"/>
          </a:xfrm>
          <a:prstGeom prst="rect">
            <a:avLst/>
          </a:prstGeom>
          <a:noFill/>
          <a:ln/>
        </p:spPr>
        <p:txBody>
          <a:bodyPr wrap="square" lIns="0" tIns="0" rIns="0" bIns="0" rtlCol="0" anchor="ctr"/>
          <a:lstStyle/>
          <a:p>
            <a:pPr algn="r" indent="0" marL="0">
              <a:buNone/>
            </a:pPr>
            <a:r>
              <a:rPr lang="en-US" sz="1250" dirty="0">
                <a:solidFill>
                  <a:srgbClr val="6B7C77"/>
                </a:solidFill>
                <a:latin typeface="Manrope" pitchFamily="34" charset="0"/>
                <a:ea typeface="Manrope" pitchFamily="34" charset="-122"/>
                <a:cs typeface="Manrope" pitchFamily="34" charset="-120"/>
              </a:rPr>
              <a:t>Plan + social</a:t>
            </a:r>
            <a:endParaRPr lang="en-US" sz="1250" dirty="0"/>
          </a:p>
        </p:txBody>
      </p:sp>
      <p:sp>
        <p:nvSpPr>
          <p:cNvPr id="13" name="Shape 10"/>
          <p:cNvSpPr/>
          <p:nvPr/>
        </p:nvSpPr>
        <p:spPr>
          <a:xfrm>
            <a:off x="5897880" y="2231136"/>
            <a:ext cx="5742432" cy="841248"/>
          </a:xfrm>
          <a:prstGeom prst="roundRect">
            <a:avLst>
              <a:gd name="adj" fmla="val 21739"/>
            </a:avLst>
          </a:prstGeom>
          <a:solidFill>
            <a:srgbClr val="FFFFFF"/>
          </a:solidFill>
          <a:ln w="9525">
            <a:solidFill>
              <a:srgbClr val="DBE6E2"/>
            </a:solidFill>
            <a:prstDash val="solid"/>
          </a:ln>
          <a:effectLst>
            <a:outerShdw sx="100000" sy="100000" kx="0" ky="0" algn="bl" rotWithShape="0" blurRad="304800" dist="50800" dir="5400000">
              <a:srgbClr val="0F5A4F">
                <a:alpha val="10000"/>
              </a:srgbClr>
            </a:outerShdw>
          </a:effectLst>
        </p:spPr>
      </p:sp>
      <p:sp>
        <p:nvSpPr>
          <p:cNvPr id="14" name="Shape 11"/>
          <p:cNvSpPr/>
          <p:nvPr/>
        </p:nvSpPr>
        <p:spPr>
          <a:xfrm>
            <a:off x="6117336" y="2414016"/>
            <a:ext cx="475488" cy="475488"/>
          </a:xfrm>
          <a:prstGeom prst="roundRect">
            <a:avLst>
              <a:gd name="adj" fmla="val 26923"/>
            </a:avLst>
          </a:prstGeom>
          <a:solidFill>
            <a:srgbClr val="E3F1EC"/>
          </a:solidFill>
          <a:ln/>
        </p:spPr>
      </p:sp>
      <p:sp>
        <p:nvSpPr>
          <p:cNvPr id="15" name="Text 12"/>
          <p:cNvSpPr/>
          <p:nvPr/>
        </p:nvSpPr>
        <p:spPr>
          <a:xfrm>
            <a:off x="6117336" y="2414016"/>
            <a:ext cx="475488" cy="475488"/>
          </a:xfrm>
          <a:prstGeom prst="rect">
            <a:avLst/>
          </a:prstGeom>
          <a:noFill/>
          <a:ln/>
        </p:spPr>
        <p:txBody>
          <a:bodyPr wrap="square" lIns="0" tIns="0" rIns="0" bIns="0" rtlCol="0" anchor="ctr"/>
          <a:lstStyle/>
          <a:p>
            <a:pPr algn="ctr" indent="0" marL="0">
              <a:buNone/>
            </a:pPr>
            <a:r>
              <a:rPr lang="en-US" sz="1800" b="1" dirty="0">
                <a:solidFill>
                  <a:srgbClr val="0F5A4F"/>
                </a:solidFill>
                <a:latin typeface="Fraunces" pitchFamily="34" charset="0"/>
                <a:ea typeface="Fraunces" pitchFamily="34" charset="-122"/>
                <a:cs typeface="Fraunces" pitchFamily="34" charset="-120"/>
              </a:rPr>
              <a:t>2</a:t>
            </a:r>
            <a:endParaRPr lang="en-US" sz="1800" dirty="0"/>
          </a:p>
        </p:txBody>
      </p:sp>
      <p:sp>
        <p:nvSpPr>
          <p:cNvPr id="16" name="Text 13"/>
          <p:cNvSpPr/>
          <p:nvPr/>
        </p:nvSpPr>
        <p:spPr>
          <a:xfrm>
            <a:off x="6793992" y="2231136"/>
            <a:ext cx="3337560" cy="841248"/>
          </a:xfrm>
          <a:prstGeom prst="rect">
            <a:avLst/>
          </a:prstGeom>
          <a:noFill/>
          <a:ln/>
        </p:spPr>
        <p:txBody>
          <a:bodyPr wrap="square" lIns="0" tIns="0" rIns="0" bIns="0" rtlCol="0" anchor="ctr"/>
          <a:lstStyle/>
          <a:p>
            <a:pPr indent="0" marL="0">
              <a:buNone/>
            </a:pPr>
            <a:r>
              <a:rPr lang="en-US" sz="1650" b="1" dirty="0">
                <a:solidFill>
                  <a:srgbClr val="10201C"/>
                </a:solidFill>
                <a:latin typeface="Manrope" pitchFamily="34" charset="0"/>
                <a:ea typeface="Manrope" pitchFamily="34" charset="-122"/>
                <a:cs typeface="Manrope" pitchFamily="34" charset="-120"/>
              </a:rPr>
              <a:t>Daily posts</a:t>
            </a:r>
            <a:endParaRPr lang="en-US" sz="1650" dirty="0"/>
          </a:p>
        </p:txBody>
      </p:sp>
      <p:sp>
        <p:nvSpPr>
          <p:cNvPr id="17" name="Text 14"/>
          <p:cNvSpPr/>
          <p:nvPr/>
        </p:nvSpPr>
        <p:spPr>
          <a:xfrm>
            <a:off x="10195560" y="2231136"/>
            <a:ext cx="1234440" cy="841248"/>
          </a:xfrm>
          <a:prstGeom prst="rect">
            <a:avLst/>
          </a:prstGeom>
          <a:noFill/>
          <a:ln/>
        </p:spPr>
        <p:txBody>
          <a:bodyPr wrap="square" lIns="0" tIns="0" rIns="0" bIns="0" rtlCol="0" anchor="ctr"/>
          <a:lstStyle/>
          <a:p>
            <a:pPr algn="r" indent="0" marL="0">
              <a:buNone/>
            </a:pPr>
            <a:r>
              <a:rPr lang="en-US" sz="1250" dirty="0">
                <a:solidFill>
                  <a:srgbClr val="6B7C77"/>
                </a:solidFill>
                <a:latin typeface="Manrope" pitchFamily="34" charset="0"/>
                <a:ea typeface="Manrope" pitchFamily="34" charset="-122"/>
                <a:cs typeface="Manrope" pitchFamily="34" charset="-120"/>
              </a:rPr>
              <a:t>Social</a:t>
            </a:r>
            <a:endParaRPr lang="en-US" sz="1250" dirty="0"/>
          </a:p>
        </p:txBody>
      </p:sp>
      <p:sp>
        <p:nvSpPr>
          <p:cNvPr id="18" name="Shape 15"/>
          <p:cNvSpPr/>
          <p:nvPr/>
        </p:nvSpPr>
        <p:spPr>
          <a:xfrm>
            <a:off x="5897880" y="3273552"/>
            <a:ext cx="5742432" cy="841248"/>
          </a:xfrm>
          <a:prstGeom prst="roundRect">
            <a:avLst>
              <a:gd name="adj" fmla="val 21739"/>
            </a:avLst>
          </a:prstGeom>
          <a:solidFill>
            <a:srgbClr val="FFFFFF"/>
          </a:solidFill>
          <a:ln w="9525">
            <a:solidFill>
              <a:srgbClr val="DBE6E2"/>
            </a:solidFill>
            <a:prstDash val="solid"/>
          </a:ln>
          <a:effectLst>
            <a:outerShdw sx="100000" sy="100000" kx="0" ky="0" algn="bl" rotWithShape="0" blurRad="304800" dist="50800" dir="5400000">
              <a:srgbClr val="0F5A4F">
                <a:alpha val="10000"/>
              </a:srgbClr>
            </a:outerShdw>
          </a:effectLst>
        </p:spPr>
      </p:sp>
      <p:sp>
        <p:nvSpPr>
          <p:cNvPr id="19" name="Shape 16"/>
          <p:cNvSpPr/>
          <p:nvPr/>
        </p:nvSpPr>
        <p:spPr>
          <a:xfrm>
            <a:off x="6117336" y="3456432"/>
            <a:ext cx="475488" cy="475488"/>
          </a:xfrm>
          <a:prstGeom prst="roundRect">
            <a:avLst>
              <a:gd name="adj" fmla="val 26923"/>
            </a:avLst>
          </a:prstGeom>
          <a:solidFill>
            <a:srgbClr val="E3F1EC"/>
          </a:solidFill>
          <a:ln/>
        </p:spPr>
      </p:sp>
      <p:sp>
        <p:nvSpPr>
          <p:cNvPr id="20" name="Text 17"/>
          <p:cNvSpPr/>
          <p:nvPr/>
        </p:nvSpPr>
        <p:spPr>
          <a:xfrm>
            <a:off x="6117336" y="3456432"/>
            <a:ext cx="475488" cy="475488"/>
          </a:xfrm>
          <a:prstGeom prst="rect">
            <a:avLst/>
          </a:prstGeom>
          <a:noFill/>
          <a:ln/>
        </p:spPr>
        <p:txBody>
          <a:bodyPr wrap="square" lIns="0" tIns="0" rIns="0" bIns="0" rtlCol="0" anchor="ctr"/>
          <a:lstStyle/>
          <a:p>
            <a:pPr algn="ctr" indent="0" marL="0">
              <a:buNone/>
            </a:pPr>
            <a:r>
              <a:rPr lang="en-US" sz="1800" b="1" dirty="0">
                <a:solidFill>
                  <a:srgbClr val="0F5A4F"/>
                </a:solidFill>
                <a:latin typeface="Fraunces" pitchFamily="34" charset="0"/>
                <a:ea typeface="Fraunces" pitchFamily="34" charset="-122"/>
                <a:cs typeface="Fraunces" pitchFamily="34" charset="-120"/>
              </a:rPr>
              <a:t>3</a:t>
            </a:r>
            <a:endParaRPr lang="en-US" sz="1800" dirty="0"/>
          </a:p>
        </p:txBody>
      </p:sp>
      <p:sp>
        <p:nvSpPr>
          <p:cNvPr id="21" name="Text 18"/>
          <p:cNvSpPr/>
          <p:nvPr/>
        </p:nvSpPr>
        <p:spPr>
          <a:xfrm>
            <a:off x="6793992" y="3273552"/>
            <a:ext cx="3337560" cy="841248"/>
          </a:xfrm>
          <a:prstGeom prst="rect">
            <a:avLst/>
          </a:prstGeom>
          <a:noFill/>
          <a:ln/>
        </p:spPr>
        <p:txBody>
          <a:bodyPr wrap="square" lIns="0" tIns="0" rIns="0" bIns="0" rtlCol="0" anchor="ctr"/>
          <a:lstStyle/>
          <a:p>
            <a:pPr indent="0" marL="0">
              <a:buNone/>
            </a:pPr>
            <a:r>
              <a:rPr lang="en-US" sz="1650" b="1" dirty="0">
                <a:solidFill>
                  <a:srgbClr val="10201C"/>
                </a:solidFill>
                <a:latin typeface="Manrope" pitchFamily="34" charset="0"/>
                <a:ea typeface="Manrope" pitchFamily="34" charset="-122"/>
                <a:cs typeface="Manrope" pitchFamily="34" charset="-120"/>
              </a:rPr>
              <a:t>Open house prep and follow-up</a:t>
            </a:r>
            <a:endParaRPr lang="en-US" sz="1650" dirty="0"/>
          </a:p>
        </p:txBody>
      </p:sp>
      <p:sp>
        <p:nvSpPr>
          <p:cNvPr id="22" name="Text 19"/>
          <p:cNvSpPr/>
          <p:nvPr/>
        </p:nvSpPr>
        <p:spPr>
          <a:xfrm>
            <a:off x="10195560" y="3273552"/>
            <a:ext cx="1234440" cy="841248"/>
          </a:xfrm>
          <a:prstGeom prst="rect">
            <a:avLst/>
          </a:prstGeom>
          <a:noFill/>
          <a:ln/>
        </p:spPr>
        <p:txBody>
          <a:bodyPr wrap="square" lIns="0" tIns="0" rIns="0" bIns="0" rtlCol="0" anchor="ctr"/>
          <a:lstStyle/>
          <a:p>
            <a:pPr algn="r" indent="0" marL="0">
              <a:buNone/>
            </a:pPr>
            <a:r>
              <a:rPr lang="en-US" sz="1250" dirty="0">
                <a:solidFill>
                  <a:srgbClr val="6B7C77"/>
                </a:solidFill>
                <a:latin typeface="Manrope" pitchFamily="34" charset="0"/>
                <a:ea typeface="Manrope" pitchFamily="34" charset="-122"/>
                <a:cs typeface="Manrope" pitchFamily="34" charset="-120"/>
              </a:rPr>
              <a:t>Calendar + texts</a:t>
            </a:r>
            <a:endParaRPr lang="en-US" sz="1250" dirty="0"/>
          </a:p>
        </p:txBody>
      </p:sp>
      <p:sp>
        <p:nvSpPr>
          <p:cNvPr id="23" name="Shape 20"/>
          <p:cNvSpPr/>
          <p:nvPr/>
        </p:nvSpPr>
        <p:spPr>
          <a:xfrm>
            <a:off x="5897880" y="4315968"/>
            <a:ext cx="5742432" cy="841248"/>
          </a:xfrm>
          <a:prstGeom prst="roundRect">
            <a:avLst>
              <a:gd name="adj" fmla="val 21739"/>
            </a:avLst>
          </a:prstGeom>
          <a:solidFill>
            <a:srgbClr val="FFFFFF"/>
          </a:solidFill>
          <a:ln w="9525">
            <a:solidFill>
              <a:srgbClr val="DBE6E2"/>
            </a:solidFill>
            <a:prstDash val="solid"/>
          </a:ln>
          <a:effectLst>
            <a:outerShdw sx="100000" sy="100000" kx="0" ky="0" algn="bl" rotWithShape="0" blurRad="304800" dist="50800" dir="5400000">
              <a:srgbClr val="0F5A4F">
                <a:alpha val="10000"/>
              </a:srgbClr>
            </a:outerShdw>
          </a:effectLst>
        </p:spPr>
      </p:sp>
      <p:sp>
        <p:nvSpPr>
          <p:cNvPr id="24" name="Shape 21"/>
          <p:cNvSpPr/>
          <p:nvPr/>
        </p:nvSpPr>
        <p:spPr>
          <a:xfrm>
            <a:off x="6117336" y="4498848"/>
            <a:ext cx="475488" cy="475488"/>
          </a:xfrm>
          <a:prstGeom prst="roundRect">
            <a:avLst>
              <a:gd name="adj" fmla="val 26923"/>
            </a:avLst>
          </a:prstGeom>
          <a:solidFill>
            <a:srgbClr val="E3F1EC"/>
          </a:solidFill>
          <a:ln/>
        </p:spPr>
      </p:sp>
      <p:sp>
        <p:nvSpPr>
          <p:cNvPr id="25" name="Text 22"/>
          <p:cNvSpPr/>
          <p:nvPr/>
        </p:nvSpPr>
        <p:spPr>
          <a:xfrm>
            <a:off x="6117336" y="4498848"/>
            <a:ext cx="475488" cy="475488"/>
          </a:xfrm>
          <a:prstGeom prst="rect">
            <a:avLst/>
          </a:prstGeom>
          <a:noFill/>
          <a:ln/>
        </p:spPr>
        <p:txBody>
          <a:bodyPr wrap="square" lIns="0" tIns="0" rIns="0" bIns="0" rtlCol="0" anchor="ctr"/>
          <a:lstStyle/>
          <a:p>
            <a:pPr algn="ctr" indent="0" marL="0">
              <a:buNone/>
            </a:pPr>
            <a:r>
              <a:rPr lang="en-US" sz="1800" b="1" dirty="0">
                <a:solidFill>
                  <a:srgbClr val="0F5A4F"/>
                </a:solidFill>
                <a:latin typeface="Fraunces" pitchFamily="34" charset="0"/>
                <a:ea typeface="Fraunces" pitchFamily="34" charset="-122"/>
                <a:cs typeface="Fraunces" pitchFamily="34" charset="-120"/>
              </a:rPr>
              <a:t>4</a:t>
            </a:r>
            <a:endParaRPr lang="en-US" sz="1800" dirty="0"/>
          </a:p>
        </p:txBody>
      </p:sp>
      <p:sp>
        <p:nvSpPr>
          <p:cNvPr id="26" name="Text 23"/>
          <p:cNvSpPr/>
          <p:nvPr/>
        </p:nvSpPr>
        <p:spPr>
          <a:xfrm>
            <a:off x="6793992" y="4315968"/>
            <a:ext cx="3337560" cy="841248"/>
          </a:xfrm>
          <a:prstGeom prst="rect">
            <a:avLst/>
          </a:prstGeom>
          <a:noFill/>
          <a:ln/>
        </p:spPr>
        <p:txBody>
          <a:bodyPr wrap="square" lIns="0" tIns="0" rIns="0" bIns="0" rtlCol="0" anchor="ctr"/>
          <a:lstStyle/>
          <a:p>
            <a:pPr indent="0" marL="0">
              <a:buNone/>
            </a:pPr>
            <a:r>
              <a:rPr lang="en-US" sz="1650" b="1" dirty="0">
                <a:solidFill>
                  <a:srgbClr val="10201C"/>
                </a:solidFill>
                <a:latin typeface="Manrope" pitchFamily="34" charset="0"/>
                <a:ea typeface="Manrope" pitchFamily="34" charset="-122"/>
                <a:cs typeface="Manrope" pitchFamily="34" charset="-120"/>
              </a:rPr>
              <a:t>Email replies</a:t>
            </a:r>
            <a:endParaRPr lang="en-US" sz="1650" dirty="0"/>
          </a:p>
        </p:txBody>
      </p:sp>
      <p:sp>
        <p:nvSpPr>
          <p:cNvPr id="27" name="Text 24"/>
          <p:cNvSpPr/>
          <p:nvPr/>
        </p:nvSpPr>
        <p:spPr>
          <a:xfrm>
            <a:off x="10195560" y="4315968"/>
            <a:ext cx="1234440" cy="841248"/>
          </a:xfrm>
          <a:prstGeom prst="rect">
            <a:avLst/>
          </a:prstGeom>
          <a:noFill/>
          <a:ln/>
        </p:spPr>
        <p:txBody>
          <a:bodyPr wrap="square" lIns="0" tIns="0" rIns="0" bIns="0" rtlCol="0" anchor="ctr"/>
          <a:lstStyle/>
          <a:p>
            <a:pPr algn="r" indent="0" marL="0">
              <a:buNone/>
            </a:pPr>
            <a:r>
              <a:rPr lang="en-US" sz="1250" dirty="0">
                <a:solidFill>
                  <a:srgbClr val="6B7C77"/>
                </a:solidFill>
                <a:latin typeface="Manrope" pitchFamily="34" charset="0"/>
                <a:ea typeface="Manrope" pitchFamily="34" charset="-122"/>
                <a:cs typeface="Manrope" pitchFamily="34" charset="-120"/>
              </a:rPr>
              <a:t>Email</a:t>
            </a:r>
            <a:endParaRPr lang="en-US" sz="1250" dirty="0"/>
          </a:p>
        </p:txBody>
      </p:sp>
      <p:sp>
        <p:nvSpPr>
          <p:cNvPr id="28" name="Shape 25"/>
          <p:cNvSpPr/>
          <p:nvPr/>
        </p:nvSpPr>
        <p:spPr>
          <a:xfrm>
            <a:off x="5897880" y="5358384"/>
            <a:ext cx="5742432" cy="841248"/>
          </a:xfrm>
          <a:prstGeom prst="roundRect">
            <a:avLst>
              <a:gd name="adj" fmla="val 21739"/>
            </a:avLst>
          </a:prstGeom>
          <a:solidFill>
            <a:srgbClr val="FFFFFF"/>
          </a:solidFill>
          <a:ln w="9525">
            <a:solidFill>
              <a:srgbClr val="DBE6E2"/>
            </a:solidFill>
            <a:prstDash val="solid"/>
          </a:ln>
          <a:effectLst>
            <a:outerShdw sx="100000" sy="100000" kx="0" ky="0" algn="bl" rotWithShape="0" blurRad="304800" dist="50800" dir="5400000">
              <a:srgbClr val="0F5A4F">
                <a:alpha val="10000"/>
              </a:srgbClr>
            </a:outerShdw>
          </a:effectLst>
        </p:spPr>
      </p:sp>
      <p:sp>
        <p:nvSpPr>
          <p:cNvPr id="29" name="Shape 26"/>
          <p:cNvSpPr/>
          <p:nvPr/>
        </p:nvSpPr>
        <p:spPr>
          <a:xfrm>
            <a:off x="6117336" y="5541264"/>
            <a:ext cx="475488" cy="475488"/>
          </a:xfrm>
          <a:prstGeom prst="roundRect">
            <a:avLst>
              <a:gd name="adj" fmla="val 26923"/>
            </a:avLst>
          </a:prstGeom>
          <a:solidFill>
            <a:srgbClr val="E3F1EC"/>
          </a:solidFill>
          <a:ln/>
        </p:spPr>
      </p:sp>
      <p:sp>
        <p:nvSpPr>
          <p:cNvPr id="30" name="Text 27"/>
          <p:cNvSpPr/>
          <p:nvPr/>
        </p:nvSpPr>
        <p:spPr>
          <a:xfrm>
            <a:off x="6117336" y="5541264"/>
            <a:ext cx="475488" cy="475488"/>
          </a:xfrm>
          <a:prstGeom prst="rect">
            <a:avLst/>
          </a:prstGeom>
          <a:noFill/>
          <a:ln/>
        </p:spPr>
        <p:txBody>
          <a:bodyPr wrap="square" lIns="0" tIns="0" rIns="0" bIns="0" rtlCol="0" anchor="ctr"/>
          <a:lstStyle/>
          <a:p>
            <a:pPr algn="ctr" indent="0" marL="0">
              <a:buNone/>
            </a:pPr>
            <a:r>
              <a:rPr lang="en-US" sz="1800" b="1" dirty="0">
                <a:solidFill>
                  <a:srgbClr val="0F5A4F"/>
                </a:solidFill>
                <a:latin typeface="Fraunces" pitchFamily="34" charset="0"/>
                <a:ea typeface="Fraunces" pitchFamily="34" charset="-122"/>
                <a:cs typeface="Fraunces" pitchFamily="34" charset="-120"/>
              </a:rPr>
              <a:t>5</a:t>
            </a:r>
            <a:endParaRPr lang="en-US" sz="1800" dirty="0"/>
          </a:p>
        </p:txBody>
      </p:sp>
      <p:sp>
        <p:nvSpPr>
          <p:cNvPr id="31" name="Text 28"/>
          <p:cNvSpPr/>
          <p:nvPr/>
        </p:nvSpPr>
        <p:spPr>
          <a:xfrm>
            <a:off x="6793992" y="5358384"/>
            <a:ext cx="3337560" cy="841248"/>
          </a:xfrm>
          <a:prstGeom prst="rect">
            <a:avLst/>
          </a:prstGeom>
          <a:noFill/>
          <a:ln/>
        </p:spPr>
        <p:txBody>
          <a:bodyPr wrap="square" lIns="0" tIns="0" rIns="0" bIns="0" rtlCol="0" anchor="ctr"/>
          <a:lstStyle/>
          <a:p>
            <a:pPr indent="0" marL="0">
              <a:buNone/>
            </a:pPr>
            <a:r>
              <a:rPr lang="en-US" sz="1650" b="1" dirty="0">
                <a:solidFill>
                  <a:srgbClr val="10201C"/>
                </a:solidFill>
                <a:latin typeface="Manrope" pitchFamily="34" charset="0"/>
                <a:ea typeface="Manrope" pitchFamily="34" charset="-122"/>
                <a:cs typeface="Manrope" pitchFamily="34" charset="-120"/>
              </a:rPr>
              <a:t>Staying in front of past clients</a:t>
            </a:r>
            <a:endParaRPr lang="en-US" sz="1650" dirty="0"/>
          </a:p>
        </p:txBody>
      </p:sp>
      <p:sp>
        <p:nvSpPr>
          <p:cNvPr id="32" name="Text 29"/>
          <p:cNvSpPr/>
          <p:nvPr/>
        </p:nvSpPr>
        <p:spPr>
          <a:xfrm>
            <a:off x="10195560" y="5358384"/>
            <a:ext cx="1234440" cy="841248"/>
          </a:xfrm>
          <a:prstGeom prst="rect">
            <a:avLst/>
          </a:prstGeom>
          <a:noFill/>
          <a:ln/>
        </p:spPr>
        <p:txBody>
          <a:bodyPr wrap="square" lIns="0" tIns="0" rIns="0" bIns="0" rtlCol="0" anchor="ctr"/>
          <a:lstStyle/>
          <a:p>
            <a:pPr algn="r" indent="0" marL="0">
              <a:buNone/>
            </a:pPr>
            <a:r>
              <a:rPr lang="en-US" sz="1250" dirty="0">
                <a:solidFill>
                  <a:srgbClr val="6B7C77"/>
                </a:solidFill>
                <a:latin typeface="Manrope" pitchFamily="34" charset="0"/>
                <a:ea typeface="Manrope" pitchFamily="34" charset="-122"/>
                <a:cs typeface="Manrope" pitchFamily="34" charset="-120"/>
              </a:rPr>
              <a:t>Everywhere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7"/>
        </a:solidFill>
      </p:bgPr>
    </p:bg>
    <p:spTree>
      <p:nvGrpSpPr>
        <p:cNvPr id="1" name=""/>
        <p:cNvGrpSpPr/>
        <p:nvPr/>
      </p:nvGrpSpPr>
      <p:grpSpPr>
        <a:xfrm>
          <a:off x="0" y="0"/>
          <a:ext cx="0" cy="0"/>
          <a:chOff x="0" y="0"/>
          <a:chExt cx="0" cy="0"/>
        </a:xfrm>
      </p:grpSpPr>
      <p:pic>
        <p:nvPicPr>
          <p:cNvPr id="2" name="Image 0" descr="/workspace/slides/voxa-pitch-CTbDK0/assets/voxa-mark.png">    </p:cNvPr>
          <p:cNvPicPr>
            <a:picLocks noChangeAspect="1"/>
          </p:cNvPicPr>
          <p:nvPr/>
        </p:nvPicPr>
        <p:blipFill>
          <a:blip r:embed="rId1"/>
          <a:stretch>
            <a:fillRect/>
          </a:stretch>
        </p:blipFill>
        <p:spPr>
          <a:xfrm>
            <a:off x="548640" y="384048"/>
            <a:ext cx="329184" cy="329184"/>
          </a:xfrm>
          <a:prstGeom prst="rect">
            <a:avLst/>
          </a:prstGeom>
        </p:spPr>
      </p:pic>
      <p:sp>
        <p:nvSpPr>
          <p:cNvPr id="3" name="Text 0"/>
          <p:cNvSpPr/>
          <p:nvPr/>
        </p:nvSpPr>
        <p:spPr>
          <a:xfrm>
            <a:off x="969264" y="365760"/>
            <a:ext cx="1371600" cy="365760"/>
          </a:xfrm>
          <a:prstGeom prst="rect">
            <a:avLst/>
          </a:prstGeom>
          <a:noFill/>
          <a:ln/>
        </p:spPr>
        <p:txBody>
          <a:bodyPr wrap="square" lIns="0" tIns="0" rIns="0" bIns="0" rtlCol="0" anchor="ctr"/>
          <a:lstStyle/>
          <a:p>
            <a:pPr indent="0" marL="0">
              <a:buNone/>
            </a:pPr>
            <a:r>
              <a:rPr lang="en-US" sz="1700" b="1" dirty="0">
                <a:solidFill>
                  <a:srgbClr val="10201C"/>
                </a:solidFill>
                <a:latin typeface="Fraunces" pitchFamily="34" charset="0"/>
                <a:ea typeface="Fraunces" pitchFamily="34" charset="-122"/>
                <a:cs typeface="Fraunces" pitchFamily="34" charset="-120"/>
              </a:rPr>
              <a:t>Voxa</a:t>
            </a:r>
            <a:endParaRPr lang="en-US" sz="1700" dirty="0"/>
          </a:p>
        </p:txBody>
      </p:sp>
      <p:sp>
        <p:nvSpPr>
          <p:cNvPr id="4" name="Text 1"/>
          <p:cNvSpPr/>
          <p:nvPr/>
        </p:nvSpPr>
        <p:spPr>
          <a:xfrm>
            <a:off x="10241280" y="365760"/>
            <a:ext cx="1399032" cy="365760"/>
          </a:xfrm>
          <a:prstGeom prst="rect">
            <a:avLst/>
          </a:prstGeom>
          <a:noFill/>
          <a:ln/>
        </p:spPr>
        <p:txBody>
          <a:bodyPr wrap="square" lIns="0" tIns="0" rIns="0" bIns="0" rtlCol="0" anchor="ctr"/>
          <a:lstStyle/>
          <a:p>
            <a:pPr algn="r" indent="0" marL="0">
              <a:buNone/>
            </a:pPr>
            <a:r>
              <a:rPr lang="en-US" sz="1100" dirty="0">
                <a:solidFill>
                  <a:srgbClr val="6B7C77"/>
                </a:solidFill>
                <a:latin typeface="Manrope" pitchFamily="34" charset="0"/>
                <a:ea typeface="Manrope" pitchFamily="34" charset="-122"/>
                <a:cs typeface="Manrope" pitchFamily="34" charset="-120"/>
              </a:rPr>
              <a:t>03 / 11</a:t>
            </a:r>
            <a:endParaRPr lang="en-US" sz="1100" dirty="0"/>
          </a:p>
        </p:txBody>
      </p:sp>
      <p:sp>
        <p:nvSpPr>
          <p:cNvPr id="5" name="Shape 2"/>
          <p:cNvSpPr/>
          <p:nvPr/>
        </p:nvSpPr>
        <p:spPr>
          <a:xfrm>
            <a:off x="548640" y="1051560"/>
            <a:ext cx="5669280" cy="5257800"/>
          </a:xfrm>
          <a:prstGeom prst="roundRect">
            <a:avLst>
              <a:gd name="adj" fmla="val 6087"/>
            </a:avLst>
          </a:prstGeom>
          <a:solidFill>
            <a:srgbClr val="E3F1EC"/>
          </a:solidFill>
          <a:ln/>
        </p:spPr>
      </p:sp>
      <p:sp>
        <p:nvSpPr>
          <p:cNvPr id="6" name="Text 3"/>
          <p:cNvSpPr/>
          <p:nvPr/>
        </p:nvSpPr>
        <p:spPr>
          <a:xfrm>
            <a:off x="960120" y="1417320"/>
            <a:ext cx="4572000" cy="274320"/>
          </a:xfrm>
          <a:prstGeom prst="rect">
            <a:avLst/>
          </a:prstGeom>
          <a:noFill/>
          <a:ln/>
        </p:spPr>
        <p:txBody>
          <a:bodyPr wrap="square" lIns="0" tIns="0" rIns="0" bIns="0" rtlCol="0" anchor="t"/>
          <a:lstStyle/>
          <a:p>
            <a:pPr indent="0" marL="0">
              <a:buNone/>
            </a:pPr>
            <a:r>
              <a:rPr lang="en-US" sz="1200" b="1" spc="250" kern="0" dirty="0">
                <a:solidFill>
                  <a:srgbClr val="0F5A4F"/>
                </a:solidFill>
                <a:latin typeface="Manrope" pitchFamily="34" charset="0"/>
                <a:ea typeface="Manrope" pitchFamily="34" charset="-122"/>
                <a:cs typeface="Manrope" pitchFamily="34" charset="-120"/>
              </a:rPr>
              <a:t>TODAY  ·  3 NEED YOU</a:t>
            </a:r>
            <a:endParaRPr lang="en-US" sz="1200" dirty="0"/>
          </a:p>
        </p:txBody>
      </p:sp>
      <p:sp>
        <p:nvSpPr>
          <p:cNvPr id="7" name="Shape 4"/>
          <p:cNvSpPr/>
          <p:nvPr/>
        </p:nvSpPr>
        <p:spPr>
          <a:xfrm>
            <a:off x="960120" y="1828800"/>
            <a:ext cx="4846320" cy="1325880"/>
          </a:xfrm>
          <a:prstGeom prst="roundRect">
            <a:avLst>
              <a:gd name="adj" fmla="val 13793"/>
            </a:avLst>
          </a:prstGeom>
          <a:solidFill>
            <a:srgbClr val="FFFFFF"/>
          </a:solidFill>
          <a:ln/>
          <a:effectLst>
            <a:outerShdw sx="100000" sy="100000" kx="0" ky="0" algn="bl" rotWithShape="0" blurRad="304800" dist="50800" dir="5400000">
              <a:srgbClr val="0F5A4F">
                <a:alpha val="10000"/>
              </a:srgbClr>
            </a:outerShdw>
          </a:effectLst>
        </p:spPr>
      </p:sp>
      <p:sp>
        <p:nvSpPr>
          <p:cNvPr id="8" name="Text 5"/>
          <p:cNvSpPr/>
          <p:nvPr/>
        </p:nvSpPr>
        <p:spPr>
          <a:xfrm>
            <a:off x="1234440" y="2011680"/>
            <a:ext cx="4389120" cy="365760"/>
          </a:xfrm>
          <a:prstGeom prst="rect">
            <a:avLst/>
          </a:prstGeom>
          <a:noFill/>
          <a:ln/>
        </p:spPr>
        <p:txBody>
          <a:bodyPr wrap="square" lIns="0" tIns="0" rIns="0" bIns="0" rtlCol="0" anchor="ctr"/>
          <a:lstStyle/>
          <a:p>
            <a:pPr indent="0" marL="0">
              <a:buNone/>
            </a:pPr>
            <a:r>
              <a:rPr lang="en-US" sz="1600" b="1" dirty="0">
                <a:solidFill>
                  <a:srgbClr val="10201C"/>
                </a:solidFill>
                <a:latin typeface="Manrope" pitchFamily="34" charset="0"/>
                <a:ea typeface="Manrope" pitchFamily="34" charset="-122"/>
                <a:cs typeface="Manrope" pitchFamily="34" charset="-120"/>
              </a:rPr>
              <a:t>Post for Saturday’s open house</a:t>
            </a:r>
            <a:endParaRPr lang="en-US" sz="1600" dirty="0"/>
          </a:p>
        </p:txBody>
      </p:sp>
      <p:sp>
        <p:nvSpPr>
          <p:cNvPr id="9" name="Text 6"/>
          <p:cNvSpPr/>
          <p:nvPr/>
        </p:nvSpPr>
        <p:spPr>
          <a:xfrm>
            <a:off x="1234440" y="2359152"/>
            <a:ext cx="4389120" cy="320040"/>
          </a:xfrm>
          <a:prstGeom prst="rect">
            <a:avLst/>
          </a:prstGeom>
          <a:noFill/>
          <a:ln/>
        </p:spPr>
        <p:txBody>
          <a:bodyPr wrap="square" lIns="0" tIns="0" rIns="0" bIns="0" rtlCol="0" anchor="ctr"/>
          <a:lstStyle/>
          <a:p>
            <a:pPr indent="0" marL="0">
              <a:buNone/>
            </a:pPr>
            <a:r>
              <a:rPr lang="en-US" sz="1300" dirty="0">
                <a:solidFill>
                  <a:srgbClr val="6B7C77"/>
                </a:solidFill>
                <a:latin typeface="Manrope" pitchFamily="34" charset="0"/>
                <a:ea typeface="Manrope" pitchFamily="34" charset="-122"/>
                <a:cs typeface="Manrope" pitchFamily="34" charset="-120"/>
              </a:rPr>
              <a:t>Voxa drafted it in your voice.</a:t>
            </a:r>
            <a:endParaRPr lang="en-US" sz="1300" dirty="0"/>
          </a:p>
        </p:txBody>
      </p:sp>
      <p:sp>
        <p:nvSpPr>
          <p:cNvPr id="10" name="Shape 7"/>
          <p:cNvSpPr/>
          <p:nvPr/>
        </p:nvSpPr>
        <p:spPr>
          <a:xfrm>
            <a:off x="1234440" y="2715768"/>
            <a:ext cx="1463040" cy="310896"/>
          </a:xfrm>
          <a:prstGeom prst="roundRect">
            <a:avLst>
              <a:gd name="adj" fmla="val 50000"/>
            </a:avLst>
          </a:prstGeom>
          <a:solidFill>
            <a:srgbClr val="0F5A4F"/>
          </a:solidFill>
          <a:ln/>
        </p:spPr>
      </p:sp>
      <p:sp>
        <p:nvSpPr>
          <p:cNvPr id="11" name="Text 8"/>
          <p:cNvSpPr/>
          <p:nvPr/>
        </p:nvSpPr>
        <p:spPr>
          <a:xfrm>
            <a:off x="1234440" y="2715768"/>
            <a:ext cx="14630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anrope" pitchFamily="34" charset="0"/>
                <a:ea typeface="Manrope" pitchFamily="34" charset="-122"/>
                <a:cs typeface="Manrope" pitchFamily="34" charset="-120"/>
              </a:rPr>
              <a:t>Review draft</a:t>
            </a:r>
            <a:endParaRPr lang="en-US" sz="1100" dirty="0"/>
          </a:p>
        </p:txBody>
      </p:sp>
      <p:sp>
        <p:nvSpPr>
          <p:cNvPr id="12" name="Shape 9"/>
          <p:cNvSpPr/>
          <p:nvPr/>
        </p:nvSpPr>
        <p:spPr>
          <a:xfrm>
            <a:off x="960120" y="3291840"/>
            <a:ext cx="4846320" cy="1325880"/>
          </a:xfrm>
          <a:prstGeom prst="roundRect">
            <a:avLst>
              <a:gd name="adj" fmla="val 13793"/>
            </a:avLst>
          </a:prstGeom>
          <a:solidFill>
            <a:srgbClr val="FFFFFF"/>
          </a:solidFill>
          <a:ln/>
          <a:effectLst>
            <a:outerShdw sx="100000" sy="100000" kx="0" ky="0" algn="bl" rotWithShape="0" blurRad="304800" dist="50800" dir="5400000">
              <a:srgbClr val="0F5A4F">
                <a:alpha val="10000"/>
              </a:srgbClr>
            </a:outerShdw>
          </a:effectLst>
        </p:spPr>
      </p:sp>
      <p:sp>
        <p:nvSpPr>
          <p:cNvPr id="13" name="Text 10"/>
          <p:cNvSpPr/>
          <p:nvPr/>
        </p:nvSpPr>
        <p:spPr>
          <a:xfrm>
            <a:off x="1234440" y="3474720"/>
            <a:ext cx="4389120" cy="365760"/>
          </a:xfrm>
          <a:prstGeom prst="rect">
            <a:avLst/>
          </a:prstGeom>
          <a:noFill/>
          <a:ln/>
        </p:spPr>
        <p:txBody>
          <a:bodyPr wrap="square" lIns="0" tIns="0" rIns="0" bIns="0" rtlCol="0" anchor="ctr"/>
          <a:lstStyle/>
          <a:p>
            <a:pPr indent="0" marL="0">
              <a:buNone/>
            </a:pPr>
            <a:r>
              <a:rPr lang="en-US" sz="1600" b="1" dirty="0">
                <a:solidFill>
                  <a:srgbClr val="10201C"/>
                </a:solidFill>
                <a:latin typeface="Manrope" pitchFamily="34" charset="0"/>
                <a:ea typeface="Manrope" pitchFamily="34" charset="-122"/>
                <a:cs typeface="Manrope" pitchFamily="34" charset="-120"/>
              </a:rPr>
              <a:t>Reply to a buyer’s agent</a:t>
            </a:r>
            <a:endParaRPr lang="en-US" sz="1600" dirty="0"/>
          </a:p>
        </p:txBody>
      </p:sp>
      <p:sp>
        <p:nvSpPr>
          <p:cNvPr id="14" name="Text 11"/>
          <p:cNvSpPr/>
          <p:nvPr/>
        </p:nvSpPr>
        <p:spPr>
          <a:xfrm>
            <a:off x="1234440" y="3822192"/>
            <a:ext cx="4389120" cy="320040"/>
          </a:xfrm>
          <a:prstGeom prst="rect">
            <a:avLst/>
          </a:prstGeom>
          <a:noFill/>
          <a:ln/>
        </p:spPr>
        <p:txBody>
          <a:bodyPr wrap="square" lIns="0" tIns="0" rIns="0" bIns="0" rtlCol="0" anchor="ctr"/>
          <a:lstStyle/>
          <a:p>
            <a:pPr indent="0" marL="0">
              <a:buNone/>
            </a:pPr>
            <a:r>
              <a:rPr lang="en-US" sz="1300" dirty="0">
                <a:solidFill>
                  <a:srgbClr val="6B7C77"/>
                </a:solidFill>
                <a:latin typeface="Manrope" pitchFamily="34" charset="0"/>
                <a:ea typeface="Manrope" pitchFamily="34" charset="-122"/>
                <a:cs typeface="Manrope" pitchFamily="34" charset="-120"/>
              </a:rPr>
              <a:t>A draft reply is ready.</a:t>
            </a:r>
            <a:endParaRPr lang="en-US" sz="1300" dirty="0"/>
          </a:p>
        </p:txBody>
      </p:sp>
      <p:sp>
        <p:nvSpPr>
          <p:cNvPr id="15" name="Shape 12"/>
          <p:cNvSpPr/>
          <p:nvPr/>
        </p:nvSpPr>
        <p:spPr>
          <a:xfrm>
            <a:off x="1234440" y="4178808"/>
            <a:ext cx="1463040" cy="310896"/>
          </a:xfrm>
          <a:prstGeom prst="roundRect">
            <a:avLst>
              <a:gd name="adj" fmla="val 50000"/>
            </a:avLst>
          </a:prstGeom>
          <a:solidFill>
            <a:srgbClr val="0F5A4F"/>
          </a:solidFill>
          <a:ln/>
        </p:spPr>
      </p:sp>
      <p:sp>
        <p:nvSpPr>
          <p:cNvPr id="16" name="Text 13"/>
          <p:cNvSpPr/>
          <p:nvPr/>
        </p:nvSpPr>
        <p:spPr>
          <a:xfrm>
            <a:off x="1234440" y="4178808"/>
            <a:ext cx="14630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anrope" pitchFamily="34" charset="0"/>
                <a:ea typeface="Manrope" pitchFamily="34" charset="-122"/>
                <a:cs typeface="Manrope" pitchFamily="34" charset="-120"/>
              </a:rPr>
              <a:t>Review reply</a:t>
            </a:r>
            <a:endParaRPr lang="en-US" sz="1100" dirty="0"/>
          </a:p>
        </p:txBody>
      </p:sp>
      <p:sp>
        <p:nvSpPr>
          <p:cNvPr id="17" name="Shape 14"/>
          <p:cNvSpPr/>
          <p:nvPr/>
        </p:nvSpPr>
        <p:spPr>
          <a:xfrm>
            <a:off x="960120" y="4754880"/>
            <a:ext cx="4846320" cy="1325880"/>
          </a:xfrm>
          <a:prstGeom prst="roundRect">
            <a:avLst>
              <a:gd name="adj" fmla="val 13793"/>
            </a:avLst>
          </a:prstGeom>
          <a:solidFill>
            <a:srgbClr val="FFFFFF"/>
          </a:solidFill>
          <a:ln/>
          <a:effectLst>
            <a:outerShdw sx="100000" sy="100000" kx="0" ky="0" algn="bl" rotWithShape="0" blurRad="304800" dist="50800" dir="5400000">
              <a:srgbClr val="0F5A4F">
                <a:alpha val="10000"/>
              </a:srgbClr>
            </a:outerShdw>
          </a:effectLst>
        </p:spPr>
      </p:sp>
      <p:sp>
        <p:nvSpPr>
          <p:cNvPr id="18" name="Text 15"/>
          <p:cNvSpPr/>
          <p:nvPr/>
        </p:nvSpPr>
        <p:spPr>
          <a:xfrm>
            <a:off x="1234440" y="4937760"/>
            <a:ext cx="4389120" cy="365760"/>
          </a:xfrm>
          <a:prstGeom prst="rect">
            <a:avLst/>
          </a:prstGeom>
          <a:noFill/>
          <a:ln/>
        </p:spPr>
        <p:txBody>
          <a:bodyPr wrap="square" lIns="0" tIns="0" rIns="0" bIns="0" rtlCol="0" anchor="ctr"/>
          <a:lstStyle/>
          <a:p>
            <a:pPr indent="0" marL="0">
              <a:buNone/>
            </a:pPr>
            <a:r>
              <a:rPr lang="en-US" sz="1600" b="1" dirty="0">
                <a:solidFill>
                  <a:srgbClr val="10201C"/>
                </a:solidFill>
                <a:latin typeface="Manrope" pitchFamily="34" charset="0"/>
                <a:ea typeface="Manrope" pitchFamily="34" charset="-122"/>
                <a:cs typeface="Manrope" pitchFamily="34" charset="-120"/>
              </a:rPr>
              <a:t>Call the photographer</a:t>
            </a:r>
            <a:endParaRPr lang="en-US" sz="1600" dirty="0"/>
          </a:p>
        </p:txBody>
      </p:sp>
      <p:sp>
        <p:nvSpPr>
          <p:cNvPr id="19" name="Text 16"/>
          <p:cNvSpPr/>
          <p:nvPr/>
        </p:nvSpPr>
        <p:spPr>
          <a:xfrm>
            <a:off x="1234440" y="5285232"/>
            <a:ext cx="4389120" cy="320040"/>
          </a:xfrm>
          <a:prstGeom prst="rect">
            <a:avLst/>
          </a:prstGeom>
          <a:noFill/>
          <a:ln/>
        </p:spPr>
        <p:txBody>
          <a:bodyPr wrap="square" lIns="0" tIns="0" rIns="0" bIns="0" rtlCol="0" anchor="ctr"/>
          <a:lstStyle/>
          <a:p>
            <a:pPr indent="0" marL="0">
              <a:buNone/>
            </a:pPr>
            <a:r>
              <a:rPr lang="en-US" sz="1300" dirty="0">
                <a:solidFill>
                  <a:srgbClr val="6B7C77"/>
                </a:solidFill>
                <a:latin typeface="Manrope" pitchFamily="34" charset="0"/>
                <a:ea typeface="Manrope" pitchFamily="34" charset="-122"/>
                <a:cs typeface="Manrope" pitchFamily="34" charset="-120"/>
              </a:rPr>
              <a:t>Staged as a reminder for 10 AM.</a:t>
            </a:r>
            <a:endParaRPr lang="en-US" sz="1300" dirty="0"/>
          </a:p>
        </p:txBody>
      </p:sp>
      <p:sp>
        <p:nvSpPr>
          <p:cNvPr id="20" name="Shape 17"/>
          <p:cNvSpPr/>
          <p:nvPr/>
        </p:nvSpPr>
        <p:spPr>
          <a:xfrm>
            <a:off x="1234440" y="5641848"/>
            <a:ext cx="1463040" cy="310896"/>
          </a:xfrm>
          <a:prstGeom prst="roundRect">
            <a:avLst>
              <a:gd name="adj" fmla="val 50000"/>
            </a:avLst>
          </a:prstGeom>
          <a:solidFill>
            <a:srgbClr val="0F5A4F"/>
          </a:solidFill>
          <a:ln/>
        </p:spPr>
      </p:sp>
      <p:sp>
        <p:nvSpPr>
          <p:cNvPr id="21" name="Text 18"/>
          <p:cNvSpPr/>
          <p:nvPr/>
        </p:nvSpPr>
        <p:spPr>
          <a:xfrm>
            <a:off x="1234440" y="5641848"/>
            <a:ext cx="146304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anrope" pitchFamily="34" charset="0"/>
                <a:ea typeface="Manrope" pitchFamily="34" charset="-122"/>
                <a:cs typeface="Manrope" pitchFamily="34" charset="-120"/>
              </a:rPr>
              <a:t>Add reminder</a:t>
            </a:r>
            <a:endParaRPr lang="en-US" sz="1100" dirty="0"/>
          </a:p>
        </p:txBody>
      </p:sp>
      <p:sp>
        <p:nvSpPr>
          <p:cNvPr id="22" name="Text 19"/>
          <p:cNvSpPr/>
          <p:nvPr/>
        </p:nvSpPr>
        <p:spPr>
          <a:xfrm>
            <a:off x="6812280" y="1463040"/>
            <a:ext cx="4572000" cy="274320"/>
          </a:xfrm>
          <a:prstGeom prst="rect">
            <a:avLst/>
          </a:prstGeom>
          <a:noFill/>
          <a:ln/>
        </p:spPr>
        <p:txBody>
          <a:bodyPr wrap="square" lIns="0" tIns="0" rIns="0" bIns="0" rtlCol="0" anchor="t"/>
          <a:lstStyle/>
          <a:p>
            <a:pPr indent="0" marL="0">
              <a:buNone/>
            </a:pPr>
            <a:r>
              <a:rPr lang="en-US" sz="1200" b="1" spc="250" kern="0" dirty="0">
                <a:solidFill>
                  <a:srgbClr val="1D9A84"/>
                </a:solidFill>
                <a:latin typeface="Manrope" pitchFamily="34" charset="0"/>
                <a:ea typeface="Manrope" pitchFamily="34" charset="-122"/>
                <a:cs typeface="Manrope" pitchFamily="34" charset="-120"/>
              </a:rPr>
              <a:t>THE IDEA</a:t>
            </a:r>
            <a:endParaRPr lang="en-US" sz="1200" dirty="0"/>
          </a:p>
        </p:txBody>
      </p:sp>
      <p:sp>
        <p:nvSpPr>
          <p:cNvPr id="23" name="Text 20"/>
          <p:cNvSpPr/>
          <p:nvPr/>
        </p:nvSpPr>
        <p:spPr>
          <a:xfrm>
            <a:off x="6812280" y="1828800"/>
            <a:ext cx="4846320" cy="2103120"/>
          </a:xfrm>
          <a:prstGeom prst="rect">
            <a:avLst/>
          </a:prstGeom>
          <a:noFill/>
          <a:ln/>
        </p:spPr>
        <p:txBody>
          <a:bodyPr wrap="square" lIns="0" tIns="0" rIns="0" bIns="0" rtlCol="0" anchor="t"/>
          <a:lstStyle/>
          <a:p>
            <a:pPr indent="0" marL="0">
              <a:buNone/>
            </a:pPr>
            <a:r>
              <a:rPr lang="en-US" sz="3800" b="1" dirty="0">
                <a:solidFill>
                  <a:srgbClr val="10201C"/>
                </a:solidFill>
                <a:latin typeface="Fraunces" pitchFamily="34" charset="0"/>
                <a:ea typeface="Fraunces" pitchFamily="34" charset="-122"/>
                <a:cs typeface="Fraunces" pitchFamily="34" charset="-120"/>
              </a:rPr>
              <a:t>Voxa puts in front of you only what needs you today.</a:t>
            </a:r>
            <a:endParaRPr lang="en-US" sz="3800" dirty="0"/>
          </a:p>
        </p:txBody>
      </p:sp>
      <p:sp>
        <p:nvSpPr>
          <p:cNvPr id="24" name="Text 21"/>
          <p:cNvSpPr/>
          <p:nvPr/>
        </p:nvSpPr>
        <p:spPr>
          <a:xfrm>
            <a:off x="6812280" y="4069080"/>
            <a:ext cx="4846320" cy="548640"/>
          </a:xfrm>
          <a:prstGeom prst="rect">
            <a:avLst/>
          </a:prstGeom>
          <a:noFill/>
          <a:ln/>
        </p:spPr>
        <p:txBody>
          <a:bodyPr wrap="square" lIns="0" tIns="0" rIns="0" bIns="0" rtlCol="0" anchor="ctr"/>
          <a:lstStyle/>
          <a:p>
            <a:pPr indent="0" marL="0">
              <a:buNone/>
            </a:pPr>
            <a:r>
              <a:rPr lang="en-US" sz="2800" b="1" dirty="0">
                <a:solidFill>
                  <a:srgbClr val="0F5A4F"/>
                </a:solidFill>
                <a:latin typeface="Fraunces" pitchFamily="34" charset="0"/>
                <a:ea typeface="Fraunces" pitchFamily="34" charset="-122"/>
                <a:cs typeface="Fraunces" pitchFamily="34" charset="-120"/>
              </a:rPr>
              <a:t>Voxa drafts. You decide.</a:t>
            </a:r>
            <a:endParaRPr lang="en-US" sz="2800" dirty="0"/>
          </a:p>
        </p:txBody>
      </p:sp>
      <p:sp>
        <p:nvSpPr>
          <p:cNvPr id="25" name="Shape 22"/>
          <p:cNvSpPr/>
          <p:nvPr/>
        </p:nvSpPr>
        <p:spPr>
          <a:xfrm>
            <a:off x="6812280" y="4983480"/>
            <a:ext cx="4663440" cy="548640"/>
          </a:xfrm>
          <a:prstGeom prst="roundRect">
            <a:avLst>
              <a:gd name="adj" fmla="val 50000"/>
            </a:avLst>
          </a:prstGeom>
          <a:solidFill>
            <a:srgbClr val="FFFFFF"/>
          </a:solidFill>
          <a:ln w="12700">
            <a:solidFill>
              <a:srgbClr val="0F5A4F"/>
            </a:solidFill>
            <a:prstDash val="solid"/>
          </a:ln>
        </p:spPr>
      </p:sp>
      <p:sp>
        <p:nvSpPr>
          <p:cNvPr id="26" name="Shape 23"/>
          <p:cNvSpPr/>
          <p:nvPr/>
        </p:nvSpPr>
        <p:spPr>
          <a:xfrm>
            <a:off x="6903720" y="5120640"/>
            <a:ext cx="274320" cy="274320"/>
          </a:xfrm>
          <a:prstGeom prst="ellipse">
            <a:avLst/>
          </a:prstGeom>
          <a:solidFill>
            <a:srgbClr val="0F5A4F"/>
          </a:solidFill>
          <a:ln/>
        </p:spPr>
      </p:sp>
      <p:sp>
        <p:nvSpPr>
          <p:cNvPr id="27" name="Text 24"/>
          <p:cNvSpPr/>
          <p:nvPr/>
        </p:nvSpPr>
        <p:spPr>
          <a:xfrm>
            <a:off x="6903720" y="512064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anrope" pitchFamily="34" charset="0"/>
                <a:ea typeface="Manrope" pitchFamily="34" charset="-122"/>
                <a:cs typeface="Manrope" pitchFamily="34" charset="-120"/>
              </a:rPr>
              <a:t>✓</a:t>
            </a:r>
            <a:endParaRPr lang="en-US" sz="1200" dirty="0"/>
          </a:p>
        </p:txBody>
      </p:sp>
      <p:sp>
        <p:nvSpPr>
          <p:cNvPr id="28" name="Text 25"/>
          <p:cNvSpPr/>
          <p:nvPr/>
        </p:nvSpPr>
        <p:spPr>
          <a:xfrm>
            <a:off x="7269480" y="4983480"/>
            <a:ext cx="4114800" cy="548640"/>
          </a:xfrm>
          <a:prstGeom prst="rect">
            <a:avLst/>
          </a:prstGeom>
          <a:noFill/>
          <a:ln/>
        </p:spPr>
        <p:txBody>
          <a:bodyPr wrap="square" lIns="0" tIns="0" rIns="0" bIns="0" rtlCol="0" anchor="ctr"/>
          <a:lstStyle/>
          <a:p>
            <a:pPr algn="l" indent="0" marL="0">
              <a:buNone/>
            </a:pPr>
            <a:r>
              <a:rPr lang="en-US" sz="1500" b="1" dirty="0">
                <a:solidFill>
                  <a:srgbClr val="0F5A4F"/>
                </a:solidFill>
                <a:latin typeface="Manrope" pitchFamily="34" charset="0"/>
                <a:ea typeface="Manrope" pitchFamily="34" charset="-122"/>
                <a:cs typeface="Manrope" pitchFamily="34" charset="-120"/>
              </a:rPr>
              <a:t>Nothing sends or posts without your tap.</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7"/>
        </a:solidFill>
      </p:bgPr>
    </p:bg>
    <p:spTree>
      <p:nvGrpSpPr>
        <p:cNvPr id="1" name=""/>
        <p:cNvGrpSpPr/>
        <p:nvPr/>
      </p:nvGrpSpPr>
      <p:grpSpPr>
        <a:xfrm>
          <a:off x="0" y="0"/>
          <a:ext cx="0" cy="0"/>
          <a:chOff x="0" y="0"/>
          <a:chExt cx="0" cy="0"/>
        </a:xfrm>
      </p:grpSpPr>
      <p:pic>
        <p:nvPicPr>
          <p:cNvPr id="2" name="Image 0" descr="/workspace/slides/voxa-pitch-CTbDK0/assets/voxa-mark.png">    </p:cNvPr>
          <p:cNvPicPr>
            <a:picLocks noChangeAspect="1"/>
          </p:cNvPicPr>
          <p:nvPr/>
        </p:nvPicPr>
        <p:blipFill>
          <a:blip r:embed="rId1"/>
          <a:stretch>
            <a:fillRect/>
          </a:stretch>
        </p:blipFill>
        <p:spPr>
          <a:xfrm>
            <a:off x="548640" y="384048"/>
            <a:ext cx="329184" cy="329184"/>
          </a:xfrm>
          <a:prstGeom prst="rect">
            <a:avLst/>
          </a:prstGeom>
        </p:spPr>
      </p:pic>
      <p:sp>
        <p:nvSpPr>
          <p:cNvPr id="3" name="Text 0"/>
          <p:cNvSpPr/>
          <p:nvPr/>
        </p:nvSpPr>
        <p:spPr>
          <a:xfrm>
            <a:off x="969264" y="365760"/>
            <a:ext cx="1371600" cy="365760"/>
          </a:xfrm>
          <a:prstGeom prst="rect">
            <a:avLst/>
          </a:prstGeom>
          <a:noFill/>
          <a:ln/>
        </p:spPr>
        <p:txBody>
          <a:bodyPr wrap="square" lIns="0" tIns="0" rIns="0" bIns="0" rtlCol="0" anchor="ctr"/>
          <a:lstStyle/>
          <a:p>
            <a:pPr indent="0" marL="0">
              <a:buNone/>
            </a:pPr>
            <a:r>
              <a:rPr lang="en-US" sz="1700" b="1" dirty="0">
                <a:solidFill>
                  <a:srgbClr val="10201C"/>
                </a:solidFill>
                <a:latin typeface="Fraunces" pitchFamily="34" charset="0"/>
                <a:ea typeface="Fraunces" pitchFamily="34" charset="-122"/>
                <a:cs typeface="Fraunces" pitchFamily="34" charset="-120"/>
              </a:rPr>
              <a:t>Voxa</a:t>
            </a:r>
            <a:endParaRPr lang="en-US" sz="1700" dirty="0"/>
          </a:p>
        </p:txBody>
      </p:sp>
      <p:sp>
        <p:nvSpPr>
          <p:cNvPr id="4" name="Text 1"/>
          <p:cNvSpPr/>
          <p:nvPr/>
        </p:nvSpPr>
        <p:spPr>
          <a:xfrm>
            <a:off x="10241280" y="365760"/>
            <a:ext cx="1399032" cy="365760"/>
          </a:xfrm>
          <a:prstGeom prst="rect">
            <a:avLst/>
          </a:prstGeom>
          <a:noFill/>
          <a:ln/>
        </p:spPr>
        <p:txBody>
          <a:bodyPr wrap="square" lIns="0" tIns="0" rIns="0" bIns="0" rtlCol="0" anchor="ctr"/>
          <a:lstStyle/>
          <a:p>
            <a:pPr algn="r" indent="0" marL="0">
              <a:buNone/>
            </a:pPr>
            <a:r>
              <a:rPr lang="en-US" sz="1100" dirty="0">
                <a:solidFill>
                  <a:srgbClr val="6B7C77"/>
                </a:solidFill>
                <a:latin typeface="Manrope" pitchFamily="34" charset="0"/>
                <a:ea typeface="Manrope" pitchFamily="34" charset="-122"/>
                <a:cs typeface="Manrope" pitchFamily="34" charset="-120"/>
              </a:rPr>
              <a:t>04 / 11</a:t>
            </a:r>
            <a:endParaRPr lang="en-US" sz="1100" dirty="0"/>
          </a:p>
        </p:txBody>
      </p:sp>
      <p:sp>
        <p:nvSpPr>
          <p:cNvPr id="5" name="VIDEO_SLOT Demo 5"/>
          <p:cNvSpPr/>
          <p:nvPr/>
        </p:nvSpPr>
        <p:spPr>
          <a:xfrm>
            <a:off x="777240" y="868680"/>
            <a:ext cx="2574036" cy="5577840"/>
          </a:xfrm>
          <a:prstGeom prst="roundRect">
            <a:avLst>
              <a:gd name="adj" fmla="val 14920"/>
            </a:avLst>
          </a:prstGeom>
          <a:solidFill>
            <a:srgbClr val="10201C"/>
          </a:solidFill>
          <a:ln/>
          <a:effectLst>
            <a:outerShdw sx="100000" sy="100000" kx="0" ky="0" algn="bl" rotWithShape="0" blurRad="304800" dist="50800" dir="5400000">
              <a:srgbClr val="0F5A4F">
                <a:alpha val="10000"/>
              </a:srgbClr>
            </a:outerShdw>
          </a:effectLst>
        </p:spPr>
      </p:sp>
      <p:sp>
        <p:nvSpPr>
          <p:cNvPr id="6" name="Shape 3"/>
          <p:cNvSpPr/>
          <p:nvPr/>
        </p:nvSpPr>
        <p:spPr>
          <a:xfrm>
            <a:off x="868680" y="960120"/>
            <a:ext cx="2391156" cy="5394960"/>
          </a:xfrm>
          <a:prstGeom prst="roundRect">
            <a:avLst>
              <a:gd name="adj" fmla="val 13002"/>
            </a:avLst>
          </a:prstGeom>
          <a:solidFill>
            <a:srgbClr val="E3F1EC"/>
          </a:solidFill>
          <a:ln/>
        </p:spPr>
      </p:sp>
      <p:sp>
        <p:nvSpPr>
          <p:cNvPr id="7" name="Shape 4"/>
          <p:cNvSpPr/>
          <p:nvPr/>
        </p:nvSpPr>
        <p:spPr>
          <a:xfrm>
            <a:off x="1652778" y="1051560"/>
            <a:ext cx="822960" cy="201168"/>
          </a:xfrm>
          <a:prstGeom prst="roundRect">
            <a:avLst>
              <a:gd name="adj" fmla="val 50000"/>
            </a:avLst>
          </a:prstGeom>
          <a:solidFill>
            <a:srgbClr val="10201C"/>
          </a:solidFill>
          <a:ln/>
        </p:spPr>
      </p:sp>
      <p:sp>
        <p:nvSpPr>
          <p:cNvPr id="8" name="Shape 5"/>
          <p:cNvSpPr/>
          <p:nvPr/>
        </p:nvSpPr>
        <p:spPr>
          <a:xfrm>
            <a:off x="1652778" y="2971800"/>
            <a:ext cx="822960" cy="822960"/>
          </a:xfrm>
          <a:prstGeom prst="ellipse">
            <a:avLst/>
          </a:prstGeom>
          <a:solidFill>
            <a:srgbClr val="0F5A4F"/>
          </a:solidFill>
          <a:ln/>
        </p:spPr>
      </p:sp>
      <p:sp>
        <p:nvSpPr>
          <p:cNvPr id="9" name="Shape 6"/>
          <p:cNvSpPr/>
          <p:nvPr/>
        </p:nvSpPr>
        <p:spPr>
          <a:xfrm rot="5400000">
            <a:off x="1945386" y="3218688"/>
            <a:ext cx="329184" cy="329184"/>
          </a:xfrm>
          <a:prstGeom prst="triangle">
            <a:avLst/>
          </a:prstGeom>
          <a:solidFill>
            <a:srgbClr val="FFFFFF"/>
          </a:solidFill>
          <a:ln/>
        </p:spPr>
      </p:sp>
      <p:sp>
        <p:nvSpPr>
          <p:cNvPr id="10" name="Text 7"/>
          <p:cNvSpPr/>
          <p:nvPr/>
        </p:nvSpPr>
        <p:spPr>
          <a:xfrm>
            <a:off x="777240" y="3977640"/>
            <a:ext cx="2574036" cy="457200"/>
          </a:xfrm>
          <a:prstGeom prst="rect">
            <a:avLst/>
          </a:prstGeom>
          <a:noFill/>
          <a:ln/>
        </p:spPr>
        <p:txBody>
          <a:bodyPr wrap="square" lIns="0" tIns="0" rIns="0" bIns="0" rtlCol="0" anchor="ctr"/>
          <a:lstStyle/>
          <a:p>
            <a:pPr algn="ctr" indent="0" marL="0">
              <a:buNone/>
            </a:pPr>
            <a:r>
              <a:rPr lang="en-US" sz="2400" b="1" dirty="0">
                <a:solidFill>
                  <a:srgbClr val="0F5A4F"/>
                </a:solidFill>
                <a:latin typeface="Fraunces" pitchFamily="34" charset="0"/>
                <a:ea typeface="Fraunces" pitchFamily="34" charset="-122"/>
                <a:cs typeface="Fraunces" pitchFamily="34" charset="-120"/>
              </a:rPr>
              <a:t>Demo 5</a:t>
            </a:r>
            <a:endParaRPr lang="en-US" sz="2400" dirty="0"/>
          </a:p>
        </p:txBody>
      </p:sp>
      <p:sp>
        <p:nvSpPr>
          <p:cNvPr id="11" name="Text 8"/>
          <p:cNvSpPr/>
          <p:nvPr/>
        </p:nvSpPr>
        <p:spPr>
          <a:xfrm>
            <a:off x="777240" y="4434840"/>
            <a:ext cx="2574036" cy="320040"/>
          </a:xfrm>
          <a:prstGeom prst="rect">
            <a:avLst/>
          </a:prstGeom>
          <a:noFill/>
          <a:ln/>
        </p:spPr>
        <p:txBody>
          <a:bodyPr wrap="square" lIns="0" tIns="0" rIns="0" bIns="0" rtlCol="0" anchor="ctr"/>
          <a:lstStyle/>
          <a:p>
            <a:pPr algn="ctr" indent="0" marL="0">
              <a:buNone/>
            </a:pPr>
            <a:r>
              <a:rPr lang="en-US" sz="1200" dirty="0">
                <a:solidFill>
                  <a:srgbClr val="6B7C77"/>
                </a:solidFill>
                <a:latin typeface="Manrope" pitchFamily="34" charset="0"/>
                <a:ea typeface="Manrope" pitchFamily="34" charset="-122"/>
                <a:cs typeface="Manrope" pitchFamily="34" charset="-120"/>
              </a:rPr>
              <a:t>Video plays here</a:t>
            </a:r>
            <a:endParaRPr lang="en-US" sz="1200" dirty="0"/>
          </a:p>
        </p:txBody>
      </p:sp>
      <p:sp>
        <p:nvSpPr>
          <p:cNvPr id="12" name="Shape 9"/>
          <p:cNvSpPr/>
          <p:nvPr/>
        </p:nvSpPr>
        <p:spPr>
          <a:xfrm>
            <a:off x="4206240" y="896112"/>
            <a:ext cx="2514600" cy="384048"/>
          </a:xfrm>
          <a:prstGeom prst="roundRect">
            <a:avLst>
              <a:gd name="adj" fmla="val 50000"/>
            </a:avLst>
          </a:prstGeom>
          <a:solidFill>
            <a:srgbClr val="FFF3D6"/>
          </a:solidFill>
          <a:ln w="12700">
            <a:solidFill>
              <a:srgbClr val="C9A227"/>
            </a:solidFill>
            <a:prstDash val="solid"/>
          </a:ln>
        </p:spPr>
      </p:sp>
      <p:sp>
        <p:nvSpPr>
          <p:cNvPr id="13" name="Text 10"/>
          <p:cNvSpPr/>
          <p:nvPr/>
        </p:nvSpPr>
        <p:spPr>
          <a:xfrm>
            <a:off x="4206240" y="896112"/>
            <a:ext cx="2514600" cy="384048"/>
          </a:xfrm>
          <a:prstGeom prst="rect">
            <a:avLst/>
          </a:prstGeom>
          <a:noFill/>
          <a:ln/>
        </p:spPr>
        <p:txBody>
          <a:bodyPr wrap="square" lIns="0" tIns="0" rIns="0" bIns="0" rtlCol="0" anchor="ctr"/>
          <a:lstStyle/>
          <a:p>
            <a:pPr algn="ctr" indent="0" marL="0">
              <a:buNone/>
            </a:pPr>
            <a:r>
              <a:rPr lang="en-US" sz="1200" b="1" spc="200" kern="0" dirty="0">
                <a:solidFill>
                  <a:srgbClr val="7A5B00"/>
                </a:solidFill>
                <a:latin typeface="Manrope" pitchFamily="34" charset="0"/>
                <a:ea typeface="Manrope" pitchFamily="34" charset="-122"/>
                <a:cs typeface="Manrope" pitchFamily="34" charset="-120"/>
              </a:rPr>
              <a:t>DESIGN PREVIEW</a:t>
            </a:r>
            <a:endParaRPr lang="en-US" sz="1200" dirty="0"/>
          </a:p>
        </p:txBody>
      </p:sp>
      <p:sp>
        <p:nvSpPr>
          <p:cNvPr id="14" name="Text 11"/>
          <p:cNvSpPr/>
          <p:nvPr/>
        </p:nvSpPr>
        <p:spPr>
          <a:xfrm>
            <a:off x="4206240" y="1371600"/>
            <a:ext cx="7406640" cy="822960"/>
          </a:xfrm>
          <a:prstGeom prst="rect">
            <a:avLst/>
          </a:prstGeom>
          <a:noFill/>
          <a:ln/>
        </p:spPr>
        <p:txBody>
          <a:bodyPr wrap="square" lIns="0" tIns="0" rIns="0" bIns="0" rtlCol="0" anchor="t"/>
          <a:lstStyle/>
          <a:p>
            <a:pPr indent="0" marL="0">
              <a:buNone/>
            </a:pPr>
            <a:r>
              <a:rPr lang="en-US" sz="3600" b="1" dirty="0">
                <a:solidFill>
                  <a:srgbClr val="10201C"/>
                </a:solidFill>
                <a:latin typeface="Fraunces" pitchFamily="34" charset="0"/>
                <a:ea typeface="Fraunces" pitchFamily="34" charset="-122"/>
                <a:cs typeface="Fraunces" pitchFamily="34" charset="-120"/>
              </a:rPr>
              <a:t>You talk. Voxa listens and acts.</a:t>
            </a:r>
            <a:endParaRPr lang="en-US" sz="3600" dirty="0"/>
          </a:p>
        </p:txBody>
      </p:sp>
      <p:sp>
        <p:nvSpPr>
          <p:cNvPr id="15" name="Text 12"/>
          <p:cNvSpPr/>
          <p:nvPr/>
        </p:nvSpPr>
        <p:spPr>
          <a:xfrm>
            <a:off x="4206240" y="2359152"/>
            <a:ext cx="7269480" cy="411480"/>
          </a:xfrm>
          <a:prstGeom prst="rect">
            <a:avLst/>
          </a:prstGeom>
          <a:noFill/>
          <a:ln/>
        </p:spPr>
        <p:txBody>
          <a:bodyPr wrap="square" lIns="0" tIns="0" rIns="0" bIns="0" rtlCol="0" anchor="t"/>
          <a:lstStyle/>
          <a:p>
            <a:pPr indent="0" marL="0">
              <a:lnSpc>
                <a:spcPct val="130000"/>
              </a:lnSpc>
              <a:buNone/>
            </a:pPr>
            <a:r>
              <a:rPr lang="en-US" sz="1800" dirty="0">
                <a:solidFill>
                  <a:srgbClr val="3E504B"/>
                </a:solidFill>
                <a:latin typeface="Manrope" pitchFamily="34" charset="0"/>
                <a:ea typeface="Manrope" pitchFamily="34" charset="-122"/>
                <a:cs typeface="Manrope" pitchFamily="34" charset="-120"/>
              </a:rPr>
              <a:t>No perfect words needed. Talk like you normally do, ums and all.</a:t>
            </a:r>
            <a:endParaRPr lang="en-US" sz="1800" dirty="0"/>
          </a:p>
        </p:txBody>
      </p:sp>
      <p:sp>
        <p:nvSpPr>
          <p:cNvPr id="16" name="Shape 13"/>
          <p:cNvSpPr/>
          <p:nvPr/>
        </p:nvSpPr>
        <p:spPr>
          <a:xfrm>
            <a:off x="5257800" y="2926080"/>
            <a:ext cx="6217920" cy="868680"/>
          </a:xfrm>
          <a:prstGeom prst="roundRect">
            <a:avLst>
              <a:gd name="adj" fmla="val 23158"/>
            </a:avLst>
          </a:prstGeom>
          <a:solidFill>
            <a:srgbClr val="FFFFFF"/>
          </a:solidFill>
          <a:ln w="9525">
            <a:solidFill>
              <a:srgbClr val="DBE6E2"/>
            </a:solidFill>
            <a:prstDash val="solid"/>
          </a:ln>
        </p:spPr>
      </p:sp>
      <p:sp>
        <p:nvSpPr>
          <p:cNvPr id="17" name="Text 14"/>
          <p:cNvSpPr/>
          <p:nvPr/>
        </p:nvSpPr>
        <p:spPr>
          <a:xfrm>
            <a:off x="5532120" y="2926080"/>
            <a:ext cx="5669280" cy="868680"/>
          </a:xfrm>
          <a:prstGeom prst="rect">
            <a:avLst/>
          </a:prstGeom>
          <a:noFill/>
          <a:ln/>
        </p:spPr>
        <p:txBody>
          <a:bodyPr wrap="square" lIns="0" tIns="0" rIns="0" bIns="0" rtlCol="0" anchor="ctr"/>
          <a:lstStyle/>
          <a:p>
            <a:pPr indent="0" marL="0">
              <a:lnSpc>
                <a:spcPct val="115000"/>
              </a:lnSpc>
              <a:buNone/>
            </a:pPr>
            <a:r>
              <a:rPr lang="en-US" sz="1550" i="1" dirty="0">
                <a:solidFill>
                  <a:srgbClr val="10201C"/>
                </a:solidFill>
                <a:latin typeface="Manrope" pitchFamily="34" charset="0"/>
                <a:ea typeface="Manrope" pitchFamily="34" charset="-122"/>
                <a:cs typeface="Manrope" pitchFamily="34" charset="-120"/>
              </a:rPr>
              <a:t>“Um, can you, uh… put lunch with a client on my, uh, calendar for Friday at, um, 2?”</a:t>
            </a:r>
            <a:endParaRPr lang="en-US" sz="1550" dirty="0"/>
          </a:p>
        </p:txBody>
      </p:sp>
      <p:sp>
        <p:nvSpPr>
          <p:cNvPr id="18" name="Shape 15"/>
          <p:cNvSpPr/>
          <p:nvPr/>
        </p:nvSpPr>
        <p:spPr>
          <a:xfrm>
            <a:off x="4206240" y="3931920"/>
            <a:ext cx="6217920" cy="658368"/>
          </a:xfrm>
          <a:prstGeom prst="roundRect">
            <a:avLst>
              <a:gd name="adj" fmla="val 30556"/>
            </a:avLst>
          </a:prstGeom>
          <a:solidFill>
            <a:srgbClr val="0F5A4F"/>
          </a:solidFill>
          <a:ln/>
        </p:spPr>
      </p:sp>
      <p:sp>
        <p:nvSpPr>
          <p:cNvPr id="19" name="Text 16"/>
          <p:cNvSpPr/>
          <p:nvPr/>
        </p:nvSpPr>
        <p:spPr>
          <a:xfrm>
            <a:off x="4480560" y="3931920"/>
            <a:ext cx="5669280" cy="658368"/>
          </a:xfrm>
          <a:prstGeom prst="rect">
            <a:avLst/>
          </a:prstGeom>
          <a:noFill/>
          <a:ln/>
        </p:spPr>
        <p:txBody>
          <a:bodyPr wrap="square" lIns="0" tIns="0" rIns="0" bIns="0" rtlCol="0" anchor="ctr"/>
          <a:lstStyle/>
          <a:p>
            <a:pPr indent="0" marL="0">
              <a:buNone/>
            </a:pPr>
            <a:r>
              <a:rPr lang="en-US" sz="1550" b="1" dirty="0">
                <a:solidFill>
                  <a:srgbClr val="FFFFFF"/>
                </a:solidFill>
                <a:latin typeface="Manrope" pitchFamily="34" charset="0"/>
                <a:ea typeface="Manrope" pitchFamily="34" charset="-122"/>
                <a:cs typeface="Manrope" pitchFamily="34" charset="-120"/>
              </a:rPr>
              <a:t>“You have a showing then. You’re free at noon, or anytime Saturday.”</a:t>
            </a:r>
            <a:endParaRPr lang="en-US" sz="1550" dirty="0"/>
          </a:p>
        </p:txBody>
      </p:sp>
      <p:sp>
        <p:nvSpPr>
          <p:cNvPr id="20" name="Shape 17"/>
          <p:cNvSpPr/>
          <p:nvPr/>
        </p:nvSpPr>
        <p:spPr>
          <a:xfrm>
            <a:off x="4206240" y="4773168"/>
            <a:ext cx="7269480" cy="804672"/>
          </a:xfrm>
          <a:prstGeom prst="roundRect">
            <a:avLst>
              <a:gd name="adj" fmla="val 25000"/>
            </a:avLst>
          </a:prstGeom>
          <a:solidFill>
            <a:srgbClr val="FFFFFF"/>
          </a:solidFill>
          <a:ln/>
          <a:effectLst>
            <a:outerShdw sx="100000" sy="100000" kx="0" ky="0" algn="bl" rotWithShape="0" blurRad="304800" dist="50800" dir="5400000">
              <a:srgbClr val="0F5A4F">
                <a:alpha val="10000"/>
              </a:srgbClr>
            </a:outerShdw>
          </a:effectLst>
        </p:spPr>
      </p:sp>
      <p:sp>
        <p:nvSpPr>
          <p:cNvPr id="21" name="Shape 18"/>
          <p:cNvSpPr/>
          <p:nvPr/>
        </p:nvSpPr>
        <p:spPr>
          <a:xfrm>
            <a:off x="4407408" y="4937760"/>
            <a:ext cx="475488" cy="475488"/>
          </a:xfrm>
          <a:prstGeom prst="roundRect">
            <a:avLst>
              <a:gd name="adj" fmla="val 26923"/>
            </a:avLst>
          </a:prstGeom>
          <a:solidFill>
            <a:srgbClr val="E3F1EC"/>
          </a:solidFill>
          <a:ln/>
        </p:spPr>
      </p:sp>
      <p:sp>
        <p:nvSpPr>
          <p:cNvPr id="22" name="Shape 19"/>
          <p:cNvSpPr/>
          <p:nvPr/>
        </p:nvSpPr>
        <p:spPr>
          <a:xfrm>
            <a:off x="4517136" y="5047488"/>
            <a:ext cx="256032" cy="237744"/>
          </a:xfrm>
          <a:prstGeom prst="rect">
            <a:avLst/>
          </a:prstGeom>
          <a:solidFill>
            <a:srgbClr val="FFFFFF"/>
          </a:solidFill>
          <a:ln w="19050">
            <a:solidFill>
              <a:srgbClr val="0F5A4F"/>
            </a:solidFill>
            <a:prstDash val="solid"/>
          </a:ln>
        </p:spPr>
      </p:sp>
      <p:sp>
        <p:nvSpPr>
          <p:cNvPr id="23" name="Shape 20"/>
          <p:cNvSpPr/>
          <p:nvPr/>
        </p:nvSpPr>
        <p:spPr>
          <a:xfrm>
            <a:off x="4517136" y="5047488"/>
            <a:ext cx="256032" cy="73152"/>
          </a:xfrm>
          <a:prstGeom prst="rect">
            <a:avLst/>
          </a:prstGeom>
          <a:solidFill>
            <a:srgbClr val="0F5A4F"/>
          </a:solidFill>
          <a:ln/>
        </p:spPr>
      </p:sp>
      <p:sp>
        <p:nvSpPr>
          <p:cNvPr id="24" name="Text 21"/>
          <p:cNvSpPr/>
          <p:nvPr/>
        </p:nvSpPr>
        <p:spPr>
          <a:xfrm>
            <a:off x="5074920" y="4773168"/>
            <a:ext cx="4023360" cy="804672"/>
          </a:xfrm>
          <a:prstGeom prst="rect">
            <a:avLst/>
          </a:prstGeom>
          <a:noFill/>
          <a:ln/>
        </p:spPr>
        <p:txBody>
          <a:bodyPr wrap="square" lIns="0" tIns="0" rIns="0" bIns="0" rtlCol="0" anchor="ctr"/>
          <a:lstStyle/>
          <a:p>
            <a:pPr indent="0" marL="0">
              <a:buNone/>
            </a:pPr>
            <a:r>
              <a:rPr lang="en-US" sz="1700" b="1" dirty="0">
                <a:solidFill>
                  <a:srgbClr val="10201C"/>
                </a:solidFill>
                <a:latin typeface="Manrope" pitchFamily="34" charset="0"/>
                <a:ea typeface="Manrope" pitchFamily="34" charset="-122"/>
                <a:cs typeface="Manrope" pitchFamily="34" charset="-120"/>
              </a:rPr>
              <a:t>Lunch with client · Fri 12:00 PM</a:t>
            </a:r>
            <a:endParaRPr lang="en-US" sz="1700" dirty="0"/>
          </a:p>
        </p:txBody>
      </p:sp>
      <p:sp>
        <p:nvSpPr>
          <p:cNvPr id="25" name="Shape 22"/>
          <p:cNvSpPr/>
          <p:nvPr/>
        </p:nvSpPr>
        <p:spPr>
          <a:xfrm>
            <a:off x="9235440" y="4937760"/>
            <a:ext cx="2011680" cy="475488"/>
          </a:xfrm>
          <a:prstGeom prst="roundRect">
            <a:avLst>
              <a:gd name="adj" fmla="val 50000"/>
            </a:avLst>
          </a:prstGeom>
          <a:solidFill>
            <a:srgbClr val="0F5A4F"/>
          </a:solidFill>
          <a:ln w="12700">
            <a:solidFill>
              <a:srgbClr val="0F5A4F"/>
            </a:solidFill>
            <a:prstDash val="solid"/>
          </a:ln>
        </p:spPr>
      </p:sp>
      <p:sp>
        <p:nvSpPr>
          <p:cNvPr id="26" name="Text 23"/>
          <p:cNvSpPr/>
          <p:nvPr/>
        </p:nvSpPr>
        <p:spPr>
          <a:xfrm>
            <a:off x="9418320" y="4937760"/>
            <a:ext cx="1645920"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Manrope" pitchFamily="34" charset="0"/>
                <a:ea typeface="Manrope" pitchFamily="34" charset="-122"/>
                <a:cs typeface="Manrope" pitchFamily="34" charset="-120"/>
              </a:rPr>
              <a:t>Add to calendar</a:t>
            </a:r>
            <a:endParaRPr lang="en-US" sz="1400" dirty="0"/>
          </a:p>
        </p:txBody>
      </p:sp>
      <p:sp>
        <p:nvSpPr>
          <p:cNvPr id="27" name="Text 24"/>
          <p:cNvSpPr/>
          <p:nvPr/>
        </p:nvSpPr>
        <p:spPr>
          <a:xfrm>
            <a:off x="4206240" y="5760720"/>
            <a:ext cx="7269480" cy="411480"/>
          </a:xfrm>
          <a:prstGeom prst="rect">
            <a:avLst/>
          </a:prstGeom>
          <a:noFill/>
          <a:ln/>
        </p:spPr>
        <p:txBody>
          <a:bodyPr wrap="square" lIns="0" tIns="0" rIns="0" bIns="0" rtlCol="0" anchor="t"/>
          <a:lstStyle/>
          <a:p>
            <a:pPr indent="0" marL="0">
              <a:lnSpc>
                <a:spcPct val="130000"/>
              </a:lnSpc>
              <a:buNone/>
            </a:pPr>
            <a:r>
              <a:rPr lang="en-US" sz="1600" dirty="0">
                <a:solidFill>
                  <a:srgbClr val="3E504B"/>
                </a:solidFill>
                <a:latin typeface="Manrope" pitchFamily="34" charset="0"/>
                <a:ea typeface="Manrope" pitchFamily="34" charset="-122"/>
                <a:cs typeface="Manrope" pitchFamily="34" charset="-120"/>
              </a:rPr>
              <a:t>It checks your calendar, then fills in the event for you to add.</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8F7"/>
        </a:solidFill>
      </p:bgPr>
    </p:bg>
    <p:spTree>
      <p:nvGrpSpPr>
        <p:cNvPr id="1" name=""/>
        <p:cNvGrpSpPr/>
        <p:nvPr/>
      </p:nvGrpSpPr>
      <p:grpSpPr>
        <a:xfrm>
          <a:off x="0" y="0"/>
          <a:ext cx="0" cy="0"/>
          <a:chOff x="0" y="0"/>
          <a:chExt cx="0" cy="0"/>
        </a:xfrm>
      </p:grpSpPr>
      <p:pic>
        <p:nvPicPr>
          <p:cNvPr id="2" name="Image 0" descr="/workspace/slides/voxa-pitch-CTbDK0/assets/voxa-mark.png">    </p:cNvPr>
          <p:cNvPicPr>
            <a:picLocks noChangeAspect="1"/>
          </p:cNvPicPr>
          <p:nvPr/>
        </p:nvPicPr>
        <p:blipFill>
          <a:blip r:embed="rId1"/>
          <a:stretch>
            <a:fillRect/>
          </a:stretch>
        </p:blipFill>
        <p:spPr>
          <a:xfrm>
            <a:off x="548640" y="384048"/>
            <a:ext cx="329184" cy="329184"/>
          </a:xfrm>
          <a:prstGeom prst="rect">
            <a:avLst/>
          </a:prstGeom>
        </p:spPr>
      </p:pic>
      <p:sp>
        <p:nvSpPr>
          <p:cNvPr id="3" name="Text 0"/>
          <p:cNvSpPr/>
          <p:nvPr/>
        </p:nvSpPr>
        <p:spPr>
          <a:xfrm>
            <a:off x="969264" y="365760"/>
            <a:ext cx="1371600" cy="365760"/>
          </a:xfrm>
          <a:prstGeom prst="rect">
            <a:avLst/>
          </a:prstGeom>
          <a:noFill/>
          <a:ln/>
        </p:spPr>
        <p:txBody>
          <a:bodyPr wrap="square" lIns="0" tIns="0" rIns="0" bIns="0" rtlCol="0" anchor="ctr"/>
          <a:lstStyle/>
          <a:p>
            <a:pPr indent="0" marL="0">
              <a:buNone/>
            </a:pPr>
            <a:r>
              <a:rPr lang="en-US" sz="1700" b="1" dirty="0">
                <a:solidFill>
                  <a:srgbClr val="10201C"/>
                </a:solidFill>
                <a:latin typeface="Fraunces" pitchFamily="34" charset="0"/>
                <a:ea typeface="Fraunces" pitchFamily="34" charset="-122"/>
                <a:cs typeface="Fraunces" pitchFamily="34" charset="-120"/>
              </a:rPr>
              <a:t>Voxa</a:t>
            </a:r>
            <a:endParaRPr lang="en-US" sz="1700" dirty="0"/>
          </a:p>
        </p:txBody>
      </p:sp>
      <p:sp>
        <p:nvSpPr>
          <p:cNvPr id="4" name="Text 1"/>
          <p:cNvSpPr/>
          <p:nvPr/>
        </p:nvSpPr>
        <p:spPr>
          <a:xfrm>
            <a:off x="10241280" y="365760"/>
            <a:ext cx="1399032" cy="365760"/>
          </a:xfrm>
          <a:prstGeom prst="rect">
            <a:avLst/>
          </a:prstGeom>
          <a:noFill/>
          <a:ln/>
        </p:spPr>
        <p:txBody>
          <a:bodyPr wrap="square" lIns="0" tIns="0" rIns="0" bIns="0" rtlCol="0" anchor="ctr"/>
          <a:lstStyle/>
          <a:p>
            <a:pPr algn="r" indent="0" marL="0">
              <a:buNone/>
            </a:pPr>
            <a:r>
              <a:rPr lang="en-US" sz="1100" dirty="0">
                <a:solidFill>
                  <a:srgbClr val="6B7C77"/>
                </a:solidFill>
                <a:latin typeface="Manrope" pitchFamily="34" charset="0"/>
                <a:ea typeface="Manrope" pitchFamily="34" charset="-122"/>
                <a:cs typeface="Manrope" pitchFamily="34" charset="-120"/>
              </a:rPr>
              <a:t>05 / 11</a:t>
            </a:r>
            <a:endParaRPr lang="en-US" sz="1100" dirty="0"/>
          </a:p>
        </p:txBody>
      </p:sp>
      <p:sp>
        <p:nvSpPr>
          <p:cNvPr id="5" name="Text 2"/>
          <p:cNvSpPr/>
          <p:nvPr/>
        </p:nvSpPr>
        <p:spPr>
          <a:xfrm>
            <a:off x="685800" y="1188720"/>
            <a:ext cx="4572000" cy="274320"/>
          </a:xfrm>
          <a:prstGeom prst="rect">
            <a:avLst/>
          </a:prstGeom>
          <a:noFill/>
          <a:ln/>
        </p:spPr>
        <p:txBody>
          <a:bodyPr wrap="square" lIns="0" tIns="0" rIns="0" bIns="0" rtlCol="0" anchor="t"/>
          <a:lstStyle/>
          <a:p>
            <a:pPr indent="0" marL="0">
              <a:buNone/>
            </a:pPr>
            <a:r>
              <a:rPr lang="en-US" sz="1200" b="1" spc="250" kern="0" dirty="0">
                <a:solidFill>
                  <a:srgbClr val="1D9A84"/>
                </a:solidFill>
                <a:latin typeface="Manrope" pitchFamily="34" charset="0"/>
                <a:ea typeface="Manrope" pitchFamily="34" charset="-122"/>
                <a:cs typeface="Manrope" pitchFamily="34" charset="-120"/>
              </a:rPr>
              <a:t>TRUSTED FRIEND</a:t>
            </a:r>
            <a:endParaRPr lang="en-US" sz="1200" dirty="0"/>
          </a:p>
        </p:txBody>
      </p:sp>
      <p:sp>
        <p:nvSpPr>
          <p:cNvPr id="6" name="Text 3"/>
          <p:cNvSpPr/>
          <p:nvPr/>
        </p:nvSpPr>
        <p:spPr>
          <a:xfrm>
            <a:off x="685800" y="1554480"/>
            <a:ext cx="6766560" cy="822960"/>
          </a:xfrm>
          <a:prstGeom prst="rect">
            <a:avLst/>
          </a:prstGeom>
          <a:noFill/>
          <a:ln/>
        </p:spPr>
        <p:txBody>
          <a:bodyPr wrap="square" lIns="0" tIns="0" rIns="0" bIns="0" rtlCol="0" anchor="t"/>
          <a:lstStyle/>
          <a:p>
            <a:pPr indent="0" marL="0">
              <a:buNone/>
            </a:pPr>
            <a:r>
              <a:rPr lang="en-US" sz="4400" b="1" dirty="0">
                <a:solidFill>
                  <a:srgbClr val="10201C"/>
                </a:solidFill>
                <a:latin typeface="Fraunces" pitchFamily="34" charset="0"/>
                <a:ea typeface="Fraunces" pitchFamily="34" charset="-122"/>
                <a:cs typeface="Fraunces" pitchFamily="34" charset="-120"/>
              </a:rPr>
              <a:t>Talk it through.</a:t>
            </a:r>
            <a:endParaRPr lang="en-US" sz="4400" dirty="0"/>
          </a:p>
        </p:txBody>
      </p:sp>
      <p:sp>
        <p:nvSpPr>
          <p:cNvPr id="7" name="Shape 4"/>
          <p:cNvSpPr/>
          <p:nvPr/>
        </p:nvSpPr>
        <p:spPr>
          <a:xfrm>
            <a:off x="548640" y="2697480"/>
            <a:ext cx="7680960" cy="3429000"/>
          </a:xfrm>
          <a:prstGeom prst="roundRect">
            <a:avLst>
              <a:gd name="adj" fmla="val 8000"/>
            </a:avLst>
          </a:prstGeom>
          <a:solidFill>
            <a:srgbClr val="E3F1EC"/>
          </a:solidFill>
          <a:ln/>
        </p:spPr>
      </p:sp>
      <p:sp>
        <p:nvSpPr>
          <p:cNvPr id="8" name="Shape 5"/>
          <p:cNvSpPr/>
          <p:nvPr/>
        </p:nvSpPr>
        <p:spPr>
          <a:xfrm>
            <a:off x="914400" y="3063240"/>
            <a:ext cx="384048" cy="384048"/>
          </a:xfrm>
          <a:prstGeom prst="ellipse">
            <a:avLst/>
          </a:prstGeom>
          <a:solidFill>
            <a:srgbClr val="0F5A4F"/>
          </a:solidFill>
          <a:ln/>
        </p:spPr>
      </p:sp>
      <p:sp>
        <p:nvSpPr>
          <p:cNvPr id="9" name="Text 6"/>
          <p:cNvSpPr/>
          <p:nvPr/>
        </p:nvSpPr>
        <p:spPr>
          <a:xfrm>
            <a:off x="914400" y="3063240"/>
            <a:ext cx="384048" cy="384048"/>
          </a:xfrm>
          <a:prstGeom prst="rect">
            <a:avLst/>
          </a:prstGeom>
          <a:noFill/>
          <a:ln/>
        </p:spPr>
        <p:txBody>
          <a:bodyPr wrap="square" lIns="0" tIns="0" rIns="0" bIns="0" rtlCol="0" anchor="ctr"/>
          <a:lstStyle/>
          <a:p>
            <a:pPr algn="ctr" indent="0" marL="0">
              <a:buNone/>
            </a:pPr>
            <a:r>
              <a:rPr lang="en-US" sz="1700" b="1" dirty="0">
                <a:solidFill>
                  <a:srgbClr val="FFFFFF"/>
                </a:solidFill>
                <a:latin typeface="Manrope" pitchFamily="34" charset="0"/>
                <a:ea typeface="Manrope" pitchFamily="34" charset="-122"/>
                <a:cs typeface="Manrope" pitchFamily="34" charset="-120"/>
              </a:rPr>
              <a:t>✓</a:t>
            </a:r>
            <a:endParaRPr lang="en-US" sz="1700" dirty="0"/>
          </a:p>
        </p:txBody>
      </p:sp>
      <p:sp>
        <p:nvSpPr>
          <p:cNvPr id="10" name="Text 7"/>
          <p:cNvSpPr/>
          <p:nvPr/>
        </p:nvSpPr>
        <p:spPr>
          <a:xfrm>
            <a:off x="1508760" y="3017520"/>
            <a:ext cx="6400800" cy="384048"/>
          </a:xfrm>
          <a:prstGeom prst="rect">
            <a:avLst/>
          </a:prstGeom>
          <a:noFill/>
          <a:ln/>
        </p:spPr>
        <p:txBody>
          <a:bodyPr wrap="square" lIns="0" tIns="0" rIns="0" bIns="0" rtlCol="0" anchor="ctr"/>
          <a:lstStyle/>
          <a:p>
            <a:pPr indent="0" marL="0">
              <a:buNone/>
            </a:pPr>
            <a:r>
              <a:rPr lang="en-US" sz="1900" b="1" dirty="0">
                <a:solidFill>
                  <a:srgbClr val="10201C"/>
                </a:solidFill>
                <a:latin typeface="Manrope" pitchFamily="34" charset="0"/>
                <a:ea typeface="Manrope" pitchFamily="34" charset="-122"/>
                <a:cs typeface="Manrope" pitchFamily="34" charset="-120"/>
              </a:rPr>
              <a:t>Voxa speaks first</a:t>
            </a:r>
            <a:endParaRPr lang="en-US" sz="1900" dirty="0"/>
          </a:p>
        </p:txBody>
      </p:sp>
      <p:sp>
        <p:nvSpPr>
          <p:cNvPr id="11" name="Text 8"/>
          <p:cNvSpPr/>
          <p:nvPr/>
        </p:nvSpPr>
        <p:spPr>
          <a:xfrm>
            <a:off x="1508760" y="3438144"/>
            <a:ext cx="6400800" cy="411480"/>
          </a:xfrm>
          <a:prstGeom prst="rect">
            <a:avLst/>
          </a:prstGeom>
          <a:noFill/>
          <a:ln/>
        </p:spPr>
        <p:txBody>
          <a:bodyPr wrap="square" lIns="0" tIns="0" rIns="0" bIns="0" rtlCol="0" anchor="t"/>
          <a:lstStyle/>
          <a:p>
            <a:pPr indent="0" marL="0">
              <a:lnSpc>
                <a:spcPct val="130000"/>
              </a:lnSpc>
              <a:buNone/>
            </a:pPr>
            <a:r>
              <a:rPr lang="en-US" sz="1600" dirty="0">
                <a:solidFill>
                  <a:srgbClr val="3E504B"/>
                </a:solidFill>
                <a:latin typeface="Manrope" pitchFamily="34" charset="0"/>
                <a:ea typeface="Manrope" pitchFamily="34" charset="-122"/>
                <a:cs typeface="Manrope" pitchFamily="34" charset="-120"/>
              </a:rPr>
              <a:t>It opens with 2–3 ideas for your day.</a:t>
            </a:r>
            <a:endParaRPr lang="en-US" sz="1600" dirty="0"/>
          </a:p>
        </p:txBody>
      </p:sp>
      <p:sp>
        <p:nvSpPr>
          <p:cNvPr id="12" name="Shape 9"/>
          <p:cNvSpPr/>
          <p:nvPr/>
        </p:nvSpPr>
        <p:spPr>
          <a:xfrm>
            <a:off x="914400" y="4069080"/>
            <a:ext cx="384048" cy="384048"/>
          </a:xfrm>
          <a:prstGeom prst="ellipse">
            <a:avLst/>
          </a:prstGeom>
          <a:solidFill>
            <a:srgbClr val="0F5A4F"/>
          </a:solidFill>
          <a:ln/>
        </p:spPr>
      </p:sp>
      <p:sp>
        <p:nvSpPr>
          <p:cNvPr id="13" name="Text 10"/>
          <p:cNvSpPr/>
          <p:nvPr/>
        </p:nvSpPr>
        <p:spPr>
          <a:xfrm>
            <a:off x="914400" y="4069080"/>
            <a:ext cx="384048" cy="384048"/>
          </a:xfrm>
          <a:prstGeom prst="rect">
            <a:avLst/>
          </a:prstGeom>
          <a:noFill/>
          <a:ln/>
        </p:spPr>
        <p:txBody>
          <a:bodyPr wrap="square" lIns="0" tIns="0" rIns="0" bIns="0" rtlCol="0" anchor="ctr"/>
          <a:lstStyle/>
          <a:p>
            <a:pPr algn="ctr" indent="0" marL="0">
              <a:buNone/>
            </a:pPr>
            <a:r>
              <a:rPr lang="en-US" sz="1700" b="1" dirty="0">
                <a:solidFill>
                  <a:srgbClr val="FFFFFF"/>
                </a:solidFill>
                <a:latin typeface="Manrope" pitchFamily="34" charset="0"/>
                <a:ea typeface="Manrope" pitchFamily="34" charset="-122"/>
                <a:cs typeface="Manrope" pitchFamily="34" charset="-120"/>
              </a:rPr>
              <a:t>✓</a:t>
            </a:r>
            <a:endParaRPr lang="en-US" sz="1700" dirty="0"/>
          </a:p>
        </p:txBody>
      </p:sp>
      <p:sp>
        <p:nvSpPr>
          <p:cNvPr id="14" name="Text 11"/>
          <p:cNvSpPr/>
          <p:nvPr/>
        </p:nvSpPr>
        <p:spPr>
          <a:xfrm>
            <a:off x="1508760" y="4023360"/>
            <a:ext cx="6400800" cy="384048"/>
          </a:xfrm>
          <a:prstGeom prst="rect">
            <a:avLst/>
          </a:prstGeom>
          <a:noFill/>
          <a:ln/>
        </p:spPr>
        <p:txBody>
          <a:bodyPr wrap="square" lIns="0" tIns="0" rIns="0" bIns="0" rtlCol="0" anchor="ctr"/>
          <a:lstStyle/>
          <a:p>
            <a:pPr indent="0" marL="0">
              <a:buNone/>
            </a:pPr>
            <a:r>
              <a:rPr lang="en-US" sz="1900" b="1" dirty="0">
                <a:solidFill>
                  <a:srgbClr val="10201C"/>
                </a:solidFill>
                <a:latin typeface="Manrope" pitchFamily="34" charset="0"/>
                <a:ea typeface="Manrope" pitchFamily="34" charset="-122"/>
                <a:cs typeface="Manrope" pitchFamily="34" charset="-120"/>
              </a:rPr>
              <a:t>It pushes back honestly</a:t>
            </a:r>
            <a:endParaRPr lang="en-US" sz="1900" dirty="0"/>
          </a:p>
        </p:txBody>
      </p:sp>
      <p:sp>
        <p:nvSpPr>
          <p:cNvPr id="15" name="Text 12"/>
          <p:cNvSpPr/>
          <p:nvPr/>
        </p:nvSpPr>
        <p:spPr>
          <a:xfrm>
            <a:off x="1508760" y="4443984"/>
            <a:ext cx="6400800" cy="411480"/>
          </a:xfrm>
          <a:prstGeom prst="rect">
            <a:avLst/>
          </a:prstGeom>
          <a:noFill/>
          <a:ln/>
        </p:spPr>
        <p:txBody>
          <a:bodyPr wrap="square" lIns="0" tIns="0" rIns="0" bIns="0" rtlCol="0" anchor="t"/>
          <a:lstStyle/>
          <a:p>
            <a:pPr indent="0" marL="0">
              <a:lnSpc>
                <a:spcPct val="130000"/>
              </a:lnSpc>
              <a:buNone/>
            </a:pPr>
            <a:r>
              <a:rPr lang="en-US" sz="1600" dirty="0">
                <a:solidFill>
                  <a:srgbClr val="3E504B"/>
                </a:solidFill>
                <a:latin typeface="Manrope" pitchFamily="34" charset="0"/>
                <a:ea typeface="Manrope" pitchFamily="34" charset="-122"/>
                <a:cs typeface="Manrope" pitchFamily="34" charset="-120"/>
              </a:rPr>
              <a:t>If a plan won’t work, it says so.</a:t>
            </a:r>
            <a:endParaRPr lang="en-US" sz="1600" dirty="0"/>
          </a:p>
        </p:txBody>
      </p:sp>
      <p:sp>
        <p:nvSpPr>
          <p:cNvPr id="16" name="Shape 13"/>
          <p:cNvSpPr/>
          <p:nvPr/>
        </p:nvSpPr>
        <p:spPr>
          <a:xfrm>
            <a:off x="914400" y="5074920"/>
            <a:ext cx="384048" cy="384048"/>
          </a:xfrm>
          <a:prstGeom prst="ellipse">
            <a:avLst/>
          </a:prstGeom>
          <a:solidFill>
            <a:srgbClr val="0F5A4F"/>
          </a:solidFill>
          <a:ln/>
        </p:spPr>
      </p:sp>
      <p:sp>
        <p:nvSpPr>
          <p:cNvPr id="17" name="Text 14"/>
          <p:cNvSpPr/>
          <p:nvPr/>
        </p:nvSpPr>
        <p:spPr>
          <a:xfrm>
            <a:off x="914400" y="5074920"/>
            <a:ext cx="384048" cy="384048"/>
          </a:xfrm>
          <a:prstGeom prst="rect">
            <a:avLst/>
          </a:prstGeom>
          <a:noFill/>
          <a:ln/>
        </p:spPr>
        <p:txBody>
          <a:bodyPr wrap="square" lIns="0" tIns="0" rIns="0" bIns="0" rtlCol="0" anchor="ctr"/>
          <a:lstStyle/>
          <a:p>
            <a:pPr algn="ctr" indent="0" marL="0">
              <a:buNone/>
            </a:pPr>
            <a:r>
              <a:rPr lang="en-US" sz="1700" b="1" dirty="0">
                <a:solidFill>
                  <a:srgbClr val="FFFFFF"/>
                </a:solidFill>
                <a:latin typeface="Manrope" pitchFamily="34" charset="0"/>
                <a:ea typeface="Manrope" pitchFamily="34" charset="-122"/>
                <a:cs typeface="Manrope" pitchFamily="34" charset="-120"/>
              </a:rPr>
              <a:t>✓</a:t>
            </a:r>
            <a:endParaRPr lang="en-US" sz="1700" dirty="0"/>
          </a:p>
        </p:txBody>
      </p:sp>
      <p:sp>
        <p:nvSpPr>
          <p:cNvPr id="18" name="Text 15"/>
          <p:cNvSpPr/>
          <p:nvPr/>
        </p:nvSpPr>
        <p:spPr>
          <a:xfrm>
            <a:off x="1508760" y="5029200"/>
            <a:ext cx="6400800" cy="384048"/>
          </a:xfrm>
          <a:prstGeom prst="rect">
            <a:avLst/>
          </a:prstGeom>
          <a:noFill/>
          <a:ln/>
        </p:spPr>
        <p:txBody>
          <a:bodyPr wrap="square" lIns="0" tIns="0" rIns="0" bIns="0" rtlCol="0" anchor="ctr"/>
          <a:lstStyle/>
          <a:p>
            <a:pPr indent="0" marL="0">
              <a:buNone/>
            </a:pPr>
            <a:r>
              <a:rPr lang="en-US" sz="1900" b="1" dirty="0">
                <a:solidFill>
                  <a:srgbClr val="10201C"/>
                </a:solidFill>
                <a:latin typeface="Manrope" pitchFamily="34" charset="0"/>
                <a:ea typeface="Manrope" pitchFamily="34" charset="-122"/>
                <a:cs typeface="Manrope" pitchFamily="34" charset="-120"/>
              </a:rPr>
              <a:t>It stages the details</a:t>
            </a:r>
            <a:endParaRPr lang="en-US" sz="1900" dirty="0"/>
          </a:p>
        </p:txBody>
      </p:sp>
      <p:sp>
        <p:nvSpPr>
          <p:cNvPr id="19" name="Text 16"/>
          <p:cNvSpPr/>
          <p:nvPr/>
        </p:nvSpPr>
        <p:spPr>
          <a:xfrm>
            <a:off x="1508760" y="5449824"/>
            <a:ext cx="6400800" cy="411480"/>
          </a:xfrm>
          <a:prstGeom prst="rect">
            <a:avLst/>
          </a:prstGeom>
          <a:noFill/>
          <a:ln/>
        </p:spPr>
        <p:txBody>
          <a:bodyPr wrap="square" lIns="0" tIns="0" rIns="0" bIns="0" rtlCol="0" anchor="t"/>
          <a:lstStyle/>
          <a:p>
            <a:pPr indent="0" marL="0">
              <a:lnSpc>
                <a:spcPct val="130000"/>
              </a:lnSpc>
              <a:buNone/>
            </a:pPr>
            <a:r>
              <a:rPr lang="en-US" sz="1600" dirty="0">
                <a:solidFill>
                  <a:srgbClr val="3E504B"/>
                </a:solidFill>
                <a:latin typeface="Manrope" pitchFamily="34" charset="0"/>
                <a:ea typeface="Manrope" pitchFamily="34" charset="-122"/>
                <a:cs typeface="Manrope" pitchFamily="34" charset="-120"/>
              </a:rPr>
              <a:t>Calendar events and reminders you add with one tap, with Undo.</a:t>
            </a:r>
            <a:endParaRPr lang="en-US" sz="1600" dirty="0"/>
          </a:p>
        </p:txBody>
      </p:sp>
      <p:sp>
        <p:nvSpPr>
          <p:cNvPr id="20" name="VIDEO_SLOT Demo 1"/>
          <p:cNvSpPr/>
          <p:nvPr/>
        </p:nvSpPr>
        <p:spPr>
          <a:xfrm>
            <a:off x="8915400" y="868680"/>
            <a:ext cx="2574036" cy="5577840"/>
          </a:xfrm>
          <a:prstGeom prst="roundRect">
            <a:avLst>
              <a:gd name="adj" fmla="val 14920"/>
            </a:avLst>
          </a:prstGeom>
          <a:solidFill>
            <a:srgbClr val="10201C"/>
          </a:solidFill>
          <a:ln/>
          <a:effectLst>
            <a:outerShdw sx="100000" sy="100000" kx="0" ky="0" algn="bl" rotWithShape="0" blurRad="304800" dist="50800" dir="5400000">
              <a:srgbClr val="0F5A4F">
                <a:alpha val="10000"/>
              </a:srgbClr>
            </a:outerShdw>
          </a:effectLst>
        </p:spPr>
      </p:sp>
      <p:sp>
        <p:nvSpPr>
          <p:cNvPr id="21" name="Shape 18"/>
          <p:cNvSpPr/>
          <p:nvPr/>
        </p:nvSpPr>
        <p:spPr>
          <a:xfrm>
            <a:off x="9006840" y="960120"/>
            <a:ext cx="2391156" cy="5394960"/>
          </a:xfrm>
          <a:prstGeom prst="roundRect">
            <a:avLst>
              <a:gd name="adj" fmla="val 13002"/>
            </a:avLst>
          </a:prstGeom>
          <a:solidFill>
            <a:srgbClr val="E3F1EC"/>
          </a:solidFill>
          <a:ln/>
        </p:spPr>
      </p:sp>
      <p:sp>
        <p:nvSpPr>
          <p:cNvPr id="22" name="Shape 19"/>
          <p:cNvSpPr/>
          <p:nvPr/>
        </p:nvSpPr>
        <p:spPr>
          <a:xfrm>
            <a:off x="9790938" y="1051560"/>
            <a:ext cx="822960" cy="201168"/>
          </a:xfrm>
          <a:prstGeom prst="roundRect">
            <a:avLst>
              <a:gd name="adj" fmla="val 50000"/>
            </a:avLst>
          </a:prstGeom>
          <a:solidFill>
            <a:srgbClr val="10201C"/>
          </a:solidFill>
          <a:ln/>
        </p:spPr>
      </p:sp>
      <p:sp>
        <p:nvSpPr>
          <p:cNvPr id="23" name="Shape 20"/>
          <p:cNvSpPr/>
          <p:nvPr/>
        </p:nvSpPr>
        <p:spPr>
          <a:xfrm>
            <a:off x="9790938" y="2971800"/>
            <a:ext cx="822960" cy="822960"/>
          </a:xfrm>
          <a:prstGeom prst="ellipse">
            <a:avLst/>
          </a:prstGeom>
          <a:solidFill>
            <a:srgbClr val="0F5A4F"/>
          </a:solidFill>
          <a:ln/>
        </p:spPr>
      </p:sp>
      <p:sp>
        <p:nvSpPr>
          <p:cNvPr id="24" name="Shape 21"/>
          <p:cNvSpPr/>
          <p:nvPr/>
        </p:nvSpPr>
        <p:spPr>
          <a:xfrm rot="5400000">
            <a:off x="10083546" y="3218688"/>
            <a:ext cx="329184" cy="329184"/>
          </a:xfrm>
          <a:prstGeom prst="triangle">
            <a:avLst/>
          </a:prstGeom>
          <a:solidFill>
            <a:srgbClr val="FFFFFF"/>
          </a:solidFill>
          <a:ln/>
        </p:spPr>
      </p:sp>
      <p:sp>
        <p:nvSpPr>
          <p:cNvPr id="25" name="Text 22"/>
          <p:cNvSpPr/>
          <p:nvPr/>
        </p:nvSpPr>
        <p:spPr>
          <a:xfrm>
            <a:off x="8915400" y="3977640"/>
            <a:ext cx="2574036" cy="457200"/>
          </a:xfrm>
          <a:prstGeom prst="rect">
            <a:avLst/>
          </a:prstGeom>
          <a:noFill/>
          <a:ln/>
        </p:spPr>
        <p:txBody>
          <a:bodyPr wrap="square" lIns="0" tIns="0" rIns="0" bIns="0" rtlCol="0" anchor="ctr"/>
          <a:lstStyle/>
          <a:p>
            <a:pPr algn="ctr" indent="0" marL="0">
              <a:buNone/>
            </a:pPr>
            <a:r>
              <a:rPr lang="en-US" sz="2400" b="1" dirty="0">
                <a:solidFill>
                  <a:srgbClr val="0F5A4F"/>
                </a:solidFill>
                <a:latin typeface="Fraunces" pitchFamily="34" charset="0"/>
                <a:ea typeface="Fraunces" pitchFamily="34" charset="-122"/>
                <a:cs typeface="Fraunces" pitchFamily="34" charset="-120"/>
              </a:rPr>
              <a:t>Demo 1</a:t>
            </a:r>
            <a:endParaRPr lang="en-US" sz="2400" dirty="0"/>
          </a:p>
        </p:txBody>
      </p:sp>
      <p:sp>
        <p:nvSpPr>
          <p:cNvPr id="26" name="Text 23"/>
          <p:cNvSpPr/>
          <p:nvPr/>
        </p:nvSpPr>
        <p:spPr>
          <a:xfrm>
            <a:off x="8915400" y="4434840"/>
            <a:ext cx="2574036" cy="320040"/>
          </a:xfrm>
          <a:prstGeom prst="rect">
            <a:avLst/>
          </a:prstGeom>
          <a:noFill/>
          <a:ln/>
        </p:spPr>
        <p:txBody>
          <a:bodyPr wrap="square" lIns="0" tIns="0" rIns="0" bIns="0" rtlCol="0" anchor="ctr"/>
          <a:lstStyle/>
          <a:p>
            <a:pPr algn="ctr" indent="0" marL="0">
              <a:buNone/>
            </a:pPr>
            <a:r>
              <a:rPr lang="en-US" sz="1200" dirty="0">
                <a:solidFill>
                  <a:srgbClr val="6B7C77"/>
                </a:solidFill>
                <a:latin typeface="Manrope" pitchFamily="34" charset="0"/>
                <a:ea typeface="Manrope" pitchFamily="34" charset="-122"/>
                <a:cs typeface="Manrope" pitchFamily="34" charset="-120"/>
              </a:rPr>
              <a:t>Video plays here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7"/>
        </a:solidFill>
      </p:bgPr>
    </p:bg>
    <p:spTree>
      <p:nvGrpSpPr>
        <p:cNvPr id="1" name=""/>
        <p:cNvGrpSpPr/>
        <p:nvPr/>
      </p:nvGrpSpPr>
      <p:grpSpPr>
        <a:xfrm>
          <a:off x="0" y="0"/>
          <a:ext cx="0" cy="0"/>
          <a:chOff x="0" y="0"/>
          <a:chExt cx="0" cy="0"/>
        </a:xfrm>
      </p:grpSpPr>
      <p:pic>
        <p:nvPicPr>
          <p:cNvPr id="2" name="Image 0" descr="/workspace/slides/voxa-pitch-CTbDK0/assets/voxa-mark.png">    </p:cNvPr>
          <p:cNvPicPr>
            <a:picLocks noChangeAspect="1"/>
          </p:cNvPicPr>
          <p:nvPr/>
        </p:nvPicPr>
        <p:blipFill>
          <a:blip r:embed="rId1"/>
          <a:stretch>
            <a:fillRect/>
          </a:stretch>
        </p:blipFill>
        <p:spPr>
          <a:xfrm>
            <a:off x="548640" y="384048"/>
            <a:ext cx="329184" cy="329184"/>
          </a:xfrm>
          <a:prstGeom prst="rect">
            <a:avLst/>
          </a:prstGeom>
        </p:spPr>
      </p:pic>
      <p:sp>
        <p:nvSpPr>
          <p:cNvPr id="3" name="Text 0"/>
          <p:cNvSpPr/>
          <p:nvPr/>
        </p:nvSpPr>
        <p:spPr>
          <a:xfrm>
            <a:off x="969264" y="365760"/>
            <a:ext cx="1371600" cy="365760"/>
          </a:xfrm>
          <a:prstGeom prst="rect">
            <a:avLst/>
          </a:prstGeom>
          <a:noFill/>
          <a:ln/>
        </p:spPr>
        <p:txBody>
          <a:bodyPr wrap="square" lIns="0" tIns="0" rIns="0" bIns="0" rtlCol="0" anchor="ctr"/>
          <a:lstStyle/>
          <a:p>
            <a:pPr indent="0" marL="0">
              <a:buNone/>
            </a:pPr>
            <a:r>
              <a:rPr lang="en-US" sz="1700" b="1" dirty="0">
                <a:solidFill>
                  <a:srgbClr val="10201C"/>
                </a:solidFill>
                <a:latin typeface="Fraunces" pitchFamily="34" charset="0"/>
                <a:ea typeface="Fraunces" pitchFamily="34" charset="-122"/>
                <a:cs typeface="Fraunces" pitchFamily="34" charset="-120"/>
              </a:rPr>
              <a:t>Voxa</a:t>
            </a:r>
            <a:endParaRPr lang="en-US" sz="1700" dirty="0"/>
          </a:p>
        </p:txBody>
      </p:sp>
      <p:sp>
        <p:nvSpPr>
          <p:cNvPr id="4" name="Text 1"/>
          <p:cNvSpPr/>
          <p:nvPr/>
        </p:nvSpPr>
        <p:spPr>
          <a:xfrm>
            <a:off x="10241280" y="365760"/>
            <a:ext cx="1399032" cy="365760"/>
          </a:xfrm>
          <a:prstGeom prst="rect">
            <a:avLst/>
          </a:prstGeom>
          <a:noFill/>
          <a:ln/>
        </p:spPr>
        <p:txBody>
          <a:bodyPr wrap="square" lIns="0" tIns="0" rIns="0" bIns="0" rtlCol="0" anchor="ctr"/>
          <a:lstStyle/>
          <a:p>
            <a:pPr algn="r" indent="0" marL="0">
              <a:buNone/>
            </a:pPr>
            <a:r>
              <a:rPr lang="en-US" sz="1100" dirty="0">
                <a:solidFill>
                  <a:srgbClr val="6B7C77"/>
                </a:solidFill>
                <a:latin typeface="Manrope" pitchFamily="34" charset="0"/>
                <a:ea typeface="Manrope" pitchFamily="34" charset="-122"/>
                <a:cs typeface="Manrope" pitchFamily="34" charset="-120"/>
              </a:rPr>
              <a:t>06 / 11</a:t>
            </a:r>
            <a:endParaRPr lang="en-US" sz="1100" dirty="0"/>
          </a:p>
        </p:txBody>
      </p:sp>
      <p:sp>
        <p:nvSpPr>
          <p:cNvPr id="5" name="VIDEO_SLOT Demo 2"/>
          <p:cNvSpPr/>
          <p:nvPr/>
        </p:nvSpPr>
        <p:spPr>
          <a:xfrm>
            <a:off x="777240" y="868680"/>
            <a:ext cx="2574036" cy="5577840"/>
          </a:xfrm>
          <a:prstGeom prst="roundRect">
            <a:avLst>
              <a:gd name="adj" fmla="val 14920"/>
            </a:avLst>
          </a:prstGeom>
          <a:solidFill>
            <a:srgbClr val="10201C"/>
          </a:solidFill>
          <a:ln/>
          <a:effectLst>
            <a:outerShdw sx="100000" sy="100000" kx="0" ky="0" algn="bl" rotWithShape="0" blurRad="304800" dist="50800" dir="5400000">
              <a:srgbClr val="0F5A4F">
                <a:alpha val="10000"/>
              </a:srgbClr>
            </a:outerShdw>
          </a:effectLst>
        </p:spPr>
      </p:sp>
      <p:sp>
        <p:nvSpPr>
          <p:cNvPr id="6" name="Shape 3"/>
          <p:cNvSpPr/>
          <p:nvPr/>
        </p:nvSpPr>
        <p:spPr>
          <a:xfrm>
            <a:off x="868680" y="960120"/>
            <a:ext cx="2391156" cy="5394960"/>
          </a:xfrm>
          <a:prstGeom prst="roundRect">
            <a:avLst>
              <a:gd name="adj" fmla="val 13002"/>
            </a:avLst>
          </a:prstGeom>
          <a:solidFill>
            <a:srgbClr val="E3F1EC"/>
          </a:solidFill>
          <a:ln/>
        </p:spPr>
      </p:sp>
      <p:sp>
        <p:nvSpPr>
          <p:cNvPr id="7" name="Shape 4"/>
          <p:cNvSpPr/>
          <p:nvPr/>
        </p:nvSpPr>
        <p:spPr>
          <a:xfrm>
            <a:off x="1652778" y="1051560"/>
            <a:ext cx="822960" cy="201168"/>
          </a:xfrm>
          <a:prstGeom prst="roundRect">
            <a:avLst>
              <a:gd name="adj" fmla="val 50000"/>
            </a:avLst>
          </a:prstGeom>
          <a:solidFill>
            <a:srgbClr val="10201C"/>
          </a:solidFill>
          <a:ln/>
        </p:spPr>
      </p:sp>
      <p:sp>
        <p:nvSpPr>
          <p:cNvPr id="8" name="Shape 5"/>
          <p:cNvSpPr/>
          <p:nvPr/>
        </p:nvSpPr>
        <p:spPr>
          <a:xfrm>
            <a:off x="1652778" y="2971800"/>
            <a:ext cx="822960" cy="822960"/>
          </a:xfrm>
          <a:prstGeom prst="ellipse">
            <a:avLst/>
          </a:prstGeom>
          <a:solidFill>
            <a:srgbClr val="0F5A4F"/>
          </a:solidFill>
          <a:ln/>
        </p:spPr>
      </p:sp>
      <p:sp>
        <p:nvSpPr>
          <p:cNvPr id="9" name="Shape 6"/>
          <p:cNvSpPr/>
          <p:nvPr/>
        </p:nvSpPr>
        <p:spPr>
          <a:xfrm rot="5400000">
            <a:off x="1945386" y="3218688"/>
            <a:ext cx="329184" cy="329184"/>
          </a:xfrm>
          <a:prstGeom prst="triangle">
            <a:avLst/>
          </a:prstGeom>
          <a:solidFill>
            <a:srgbClr val="FFFFFF"/>
          </a:solidFill>
          <a:ln/>
        </p:spPr>
      </p:sp>
      <p:sp>
        <p:nvSpPr>
          <p:cNvPr id="10" name="Text 7"/>
          <p:cNvSpPr/>
          <p:nvPr/>
        </p:nvSpPr>
        <p:spPr>
          <a:xfrm>
            <a:off x="777240" y="3977640"/>
            <a:ext cx="2574036" cy="457200"/>
          </a:xfrm>
          <a:prstGeom prst="rect">
            <a:avLst/>
          </a:prstGeom>
          <a:noFill/>
          <a:ln/>
        </p:spPr>
        <p:txBody>
          <a:bodyPr wrap="square" lIns="0" tIns="0" rIns="0" bIns="0" rtlCol="0" anchor="ctr"/>
          <a:lstStyle/>
          <a:p>
            <a:pPr algn="ctr" indent="0" marL="0">
              <a:buNone/>
            </a:pPr>
            <a:r>
              <a:rPr lang="en-US" sz="2400" b="1" dirty="0">
                <a:solidFill>
                  <a:srgbClr val="0F5A4F"/>
                </a:solidFill>
                <a:latin typeface="Fraunces" pitchFamily="34" charset="0"/>
                <a:ea typeface="Fraunces" pitchFamily="34" charset="-122"/>
                <a:cs typeface="Fraunces" pitchFamily="34" charset="-120"/>
              </a:rPr>
              <a:t>Demo 2</a:t>
            </a:r>
            <a:endParaRPr lang="en-US" sz="2400" dirty="0"/>
          </a:p>
        </p:txBody>
      </p:sp>
      <p:sp>
        <p:nvSpPr>
          <p:cNvPr id="11" name="Text 8"/>
          <p:cNvSpPr/>
          <p:nvPr/>
        </p:nvSpPr>
        <p:spPr>
          <a:xfrm>
            <a:off x="777240" y="4434840"/>
            <a:ext cx="2574036" cy="320040"/>
          </a:xfrm>
          <a:prstGeom prst="rect">
            <a:avLst/>
          </a:prstGeom>
          <a:noFill/>
          <a:ln/>
        </p:spPr>
        <p:txBody>
          <a:bodyPr wrap="square" lIns="0" tIns="0" rIns="0" bIns="0" rtlCol="0" anchor="ctr"/>
          <a:lstStyle/>
          <a:p>
            <a:pPr algn="ctr" indent="0" marL="0">
              <a:buNone/>
            </a:pPr>
            <a:r>
              <a:rPr lang="en-US" sz="1200" dirty="0">
                <a:solidFill>
                  <a:srgbClr val="6B7C77"/>
                </a:solidFill>
                <a:latin typeface="Manrope" pitchFamily="34" charset="0"/>
                <a:ea typeface="Manrope" pitchFamily="34" charset="-122"/>
                <a:cs typeface="Manrope" pitchFamily="34" charset="-120"/>
              </a:rPr>
              <a:t>Video plays here</a:t>
            </a:r>
            <a:endParaRPr lang="en-US" sz="1200" dirty="0"/>
          </a:p>
        </p:txBody>
      </p:sp>
      <p:sp>
        <p:nvSpPr>
          <p:cNvPr id="12" name="Text 9"/>
          <p:cNvSpPr/>
          <p:nvPr/>
        </p:nvSpPr>
        <p:spPr>
          <a:xfrm>
            <a:off x="4206240" y="1051560"/>
            <a:ext cx="4572000" cy="274320"/>
          </a:xfrm>
          <a:prstGeom prst="rect">
            <a:avLst/>
          </a:prstGeom>
          <a:noFill/>
          <a:ln/>
        </p:spPr>
        <p:txBody>
          <a:bodyPr wrap="square" lIns="0" tIns="0" rIns="0" bIns="0" rtlCol="0" anchor="t"/>
          <a:lstStyle/>
          <a:p>
            <a:pPr indent="0" marL="0">
              <a:buNone/>
            </a:pPr>
            <a:r>
              <a:rPr lang="en-US" sz="1200" b="1" spc="250" kern="0" dirty="0">
                <a:solidFill>
                  <a:srgbClr val="1D9A84"/>
                </a:solidFill>
                <a:latin typeface="Manrope" pitchFamily="34" charset="0"/>
                <a:ea typeface="Manrope" pitchFamily="34" charset="-122"/>
                <a:cs typeface="Manrope" pitchFamily="34" charset="-120"/>
              </a:rPr>
              <a:t>MARKETING</a:t>
            </a:r>
            <a:endParaRPr lang="en-US" sz="1200" dirty="0"/>
          </a:p>
        </p:txBody>
      </p:sp>
      <p:sp>
        <p:nvSpPr>
          <p:cNvPr id="13" name="Text 10"/>
          <p:cNvSpPr/>
          <p:nvPr/>
        </p:nvSpPr>
        <p:spPr>
          <a:xfrm>
            <a:off x="4206240" y="1371600"/>
            <a:ext cx="7406640" cy="1280160"/>
          </a:xfrm>
          <a:prstGeom prst="rect">
            <a:avLst/>
          </a:prstGeom>
          <a:noFill/>
          <a:ln/>
        </p:spPr>
        <p:txBody>
          <a:bodyPr wrap="square" lIns="0" tIns="0" rIns="0" bIns="0" rtlCol="0" anchor="t"/>
          <a:lstStyle/>
          <a:p>
            <a:pPr indent="0" marL="0">
              <a:buNone/>
            </a:pPr>
            <a:r>
              <a:rPr lang="en-US" sz="3600" b="1" dirty="0">
                <a:solidFill>
                  <a:srgbClr val="10201C"/>
                </a:solidFill>
                <a:latin typeface="Fraunces" pitchFamily="34" charset="0"/>
                <a:ea typeface="Fraunces" pitchFamily="34" charset="-122"/>
                <a:cs typeface="Fraunces" pitchFamily="34" charset="-120"/>
              </a:rPr>
              <a:t>A 90-day marketing plan, and posts in your voice.</a:t>
            </a:r>
            <a:endParaRPr lang="en-US" sz="3600" dirty="0"/>
          </a:p>
        </p:txBody>
      </p:sp>
      <p:sp>
        <p:nvSpPr>
          <p:cNvPr id="14" name="Shape 11"/>
          <p:cNvSpPr/>
          <p:nvPr/>
        </p:nvSpPr>
        <p:spPr>
          <a:xfrm>
            <a:off x="4462272" y="2926080"/>
            <a:ext cx="0" cy="2240280"/>
          </a:xfrm>
          <a:prstGeom prst="line">
            <a:avLst/>
          </a:prstGeom>
          <a:noFill/>
          <a:ln w="25400">
            <a:solidFill>
              <a:srgbClr val="DBE6E2"/>
            </a:solidFill>
            <a:prstDash val="solid"/>
          </a:ln>
        </p:spPr>
      </p:sp>
      <p:sp>
        <p:nvSpPr>
          <p:cNvPr id="15" name="Shape 12"/>
          <p:cNvSpPr/>
          <p:nvPr/>
        </p:nvSpPr>
        <p:spPr>
          <a:xfrm>
            <a:off x="4206240" y="2697480"/>
            <a:ext cx="512064" cy="512064"/>
          </a:xfrm>
          <a:prstGeom prst="ellipse">
            <a:avLst/>
          </a:prstGeom>
          <a:solidFill>
            <a:srgbClr val="0F5A4F"/>
          </a:solidFill>
          <a:ln w="38100">
            <a:solidFill>
              <a:srgbClr val="F6F8F7"/>
            </a:solidFill>
            <a:prstDash val="solid"/>
          </a:ln>
        </p:spPr>
      </p:sp>
      <p:sp>
        <p:nvSpPr>
          <p:cNvPr id="16" name="Text 13"/>
          <p:cNvSpPr/>
          <p:nvPr/>
        </p:nvSpPr>
        <p:spPr>
          <a:xfrm>
            <a:off x="4206240" y="2697480"/>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Fraunces" pitchFamily="34" charset="0"/>
                <a:ea typeface="Fraunces" pitchFamily="34" charset="-122"/>
                <a:cs typeface="Fraunces" pitchFamily="34" charset="-120"/>
              </a:rPr>
              <a:t>1</a:t>
            </a:r>
            <a:endParaRPr lang="en-US" sz="1700" dirty="0"/>
          </a:p>
        </p:txBody>
      </p:sp>
      <p:sp>
        <p:nvSpPr>
          <p:cNvPr id="17" name="Text 14"/>
          <p:cNvSpPr/>
          <p:nvPr/>
        </p:nvSpPr>
        <p:spPr>
          <a:xfrm>
            <a:off x="4983480" y="2679192"/>
            <a:ext cx="2743200" cy="548640"/>
          </a:xfrm>
          <a:prstGeom prst="rect">
            <a:avLst/>
          </a:prstGeom>
          <a:noFill/>
          <a:ln/>
        </p:spPr>
        <p:txBody>
          <a:bodyPr wrap="square" lIns="0" tIns="0" rIns="0" bIns="0" rtlCol="0" anchor="ctr"/>
          <a:lstStyle/>
          <a:p>
            <a:pPr indent="0" marL="0">
              <a:buNone/>
            </a:pPr>
            <a:r>
              <a:rPr lang="en-US" sz="1800" b="1" dirty="0">
                <a:solidFill>
                  <a:srgbClr val="10201C"/>
                </a:solidFill>
                <a:latin typeface="Manrope" pitchFamily="34" charset="0"/>
                <a:ea typeface="Manrope" pitchFamily="34" charset="-122"/>
                <a:cs typeface="Manrope" pitchFamily="34" charset="-120"/>
              </a:rPr>
              <a:t>Goals interview</a:t>
            </a:r>
            <a:endParaRPr lang="en-US" sz="1800" dirty="0"/>
          </a:p>
        </p:txBody>
      </p:sp>
      <p:sp>
        <p:nvSpPr>
          <p:cNvPr id="18" name="Text 15"/>
          <p:cNvSpPr/>
          <p:nvPr/>
        </p:nvSpPr>
        <p:spPr>
          <a:xfrm>
            <a:off x="7726680" y="2679192"/>
            <a:ext cx="3931920" cy="548640"/>
          </a:xfrm>
          <a:prstGeom prst="rect">
            <a:avLst/>
          </a:prstGeom>
          <a:noFill/>
          <a:ln/>
        </p:spPr>
        <p:txBody>
          <a:bodyPr wrap="square" lIns="0" tIns="0" rIns="0" bIns="0" rtlCol="0" anchor="ctr"/>
          <a:lstStyle/>
          <a:p>
            <a:pPr indent="0" marL="0">
              <a:buNone/>
            </a:pPr>
            <a:r>
              <a:rPr lang="en-US" sz="1500" dirty="0">
                <a:solidFill>
                  <a:srgbClr val="3E504B"/>
                </a:solidFill>
                <a:latin typeface="Manrope" pitchFamily="34" charset="0"/>
                <a:ea typeface="Manrope" pitchFamily="34" charset="-122"/>
                <a:cs typeface="Manrope" pitchFamily="34" charset="-120"/>
              </a:rPr>
              <a:t>A short conversation about what you want.</a:t>
            </a:r>
            <a:endParaRPr lang="en-US" sz="1500" dirty="0"/>
          </a:p>
        </p:txBody>
      </p:sp>
      <p:sp>
        <p:nvSpPr>
          <p:cNvPr id="19" name="Shape 16"/>
          <p:cNvSpPr/>
          <p:nvPr/>
        </p:nvSpPr>
        <p:spPr>
          <a:xfrm>
            <a:off x="4206240" y="3447288"/>
            <a:ext cx="512064" cy="512064"/>
          </a:xfrm>
          <a:prstGeom prst="ellipse">
            <a:avLst/>
          </a:prstGeom>
          <a:solidFill>
            <a:srgbClr val="0F5A4F"/>
          </a:solidFill>
          <a:ln w="38100">
            <a:solidFill>
              <a:srgbClr val="F6F8F7"/>
            </a:solidFill>
            <a:prstDash val="solid"/>
          </a:ln>
        </p:spPr>
      </p:sp>
      <p:sp>
        <p:nvSpPr>
          <p:cNvPr id="20" name="Text 17"/>
          <p:cNvSpPr/>
          <p:nvPr/>
        </p:nvSpPr>
        <p:spPr>
          <a:xfrm>
            <a:off x="4206240" y="3447288"/>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Fraunces" pitchFamily="34" charset="0"/>
                <a:ea typeface="Fraunces" pitchFamily="34" charset="-122"/>
                <a:cs typeface="Fraunces" pitchFamily="34" charset="-120"/>
              </a:rPr>
              <a:t>2</a:t>
            </a:r>
            <a:endParaRPr lang="en-US" sz="1700" dirty="0"/>
          </a:p>
        </p:txBody>
      </p:sp>
      <p:sp>
        <p:nvSpPr>
          <p:cNvPr id="21" name="Text 18"/>
          <p:cNvSpPr/>
          <p:nvPr/>
        </p:nvSpPr>
        <p:spPr>
          <a:xfrm>
            <a:off x="4983480" y="3429000"/>
            <a:ext cx="2743200" cy="548640"/>
          </a:xfrm>
          <a:prstGeom prst="rect">
            <a:avLst/>
          </a:prstGeom>
          <a:noFill/>
          <a:ln/>
        </p:spPr>
        <p:txBody>
          <a:bodyPr wrap="square" lIns="0" tIns="0" rIns="0" bIns="0" rtlCol="0" anchor="ctr"/>
          <a:lstStyle/>
          <a:p>
            <a:pPr indent="0" marL="0">
              <a:buNone/>
            </a:pPr>
            <a:r>
              <a:rPr lang="en-US" sz="1800" b="1" dirty="0">
                <a:solidFill>
                  <a:srgbClr val="10201C"/>
                </a:solidFill>
                <a:latin typeface="Manrope" pitchFamily="34" charset="0"/>
                <a:ea typeface="Manrope" pitchFamily="34" charset="-122"/>
                <a:cs typeface="Manrope" pitchFamily="34" charset="-120"/>
              </a:rPr>
              <a:t>Your 90-day plan</a:t>
            </a:r>
            <a:endParaRPr lang="en-US" sz="1800" dirty="0"/>
          </a:p>
        </p:txBody>
      </p:sp>
      <p:sp>
        <p:nvSpPr>
          <p:cNvPr id="22" name="Text 19"/>
          <p:cNvSpPr/>
          <p:nvPr/>
        </p:nvSpPr>
        <p:spPr>
          <a:xfrm>
            <a:off x="7726680" y="3429000"/>
            <a:ext cx="3931920" cy="548640"/>
          </a:xfrm>
          <a:prstGeom prst="rect">
            <a:avLst/>
          </a:prstGeom>
          <a:noFill/>
          <a:ln/>
        </p:spPr>
        <p:txBody>
          <a:bodyPr wrap="square" lIns="0" tIns="0" rIns="0" bIns="0" rtlCol="0" anchor="ctr"/>
          <a:lstStyle/>
          <a:p>
            <a:pPr indent="0" marL="0">
              <a:buNone/>
            </a:pPr>
            <a:r>
              <a:rPr lang="en-US" sz="1500" dirty="0">
                <a:solidFill>
                  <a:srgbClr val="3E504B"/>
                </a:solidFill>
                <a:latin typeface="Manrope" pitchFamily="34" charset="0"/>
                <a:ea typeface="Manrope" pitchFamily="34" charset="-122"/>
                <a:cs typeface="Manrope" pitchFamily="34" charset="-120"/>
              </a:rPr>
              <a:t>Voxa builds the plan from your answers.</a:t>
            </a:r>
            <a:endParaRPr lang="en-US" sz="1500" dirty="0"/>
          </a:p>
        </p:txBody>
      </p:sp>
      <p:sp>
        <p:nvSpPr>
          <p:cNvPr id="23" name="Shape 20"/>
          <p:cNvSpPr/>
          <p:nvPr/>
        </p:nvSpPr>
        <p:spPr>
          <a:xfrm>
            <a:off x="4206240" y="4197096"/>
            <a:ext cx="512064" cy="512064"/>
          </a:xfrm>
          <a:prstGeom prst="ellipse">
            <a:avLst/>
          </a:prstGeom>
          <a:solidFill>
            <a:srgbClr val="0F5A4F"/>
          </a:solidFill>
          <a:ln w="38100">
            <a:solidFill>
              <a:srgbClr val="F6F8F7"/>
            </a:solidFill>
            <a:prstDash val="solid"/>
          </a:ln>
        </p:spPr>
      </p:sp>
      <p:sp>
        <p:nvSpPr>
          <p:cNvPr id="24" name="Text 21"/>
          <p:cNvSpPr/>
          <p:nvPr/>
        </p:nvSpPr>
        <p:spPr>
          <a:xfrm>
            <a:off x="4206240" y="4197096"/>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Fraunces" pitchFamily="34" charset="0"/>
                <a:ea typeface="Fraunces" pitchFamily="34" charset="-122"/>
                <a:cs typeface="Fraunces" pitchFamily="34" charset="-120"/>
              </a:rPr>
              <a:t>3</a:t>
            </a:r>
            <a:endParaRPr lang="en-US" sz="1700" dirty="0"/>
          </a:p>
        </p:txBody>
      </p:sp>
      <p:sp>
        <p:nvSpPr>
          <p:cNvPr id="25" name="Text 22"/>
          <p:cNvSpPr/>
          <p:nvPr/>
        </p:nvSpPr>
        <p:spPr>
          <a:xfrm>
            <a:off x="4983480" y="4178808"/>
            <a:ext cx="2743200" cy="548640"/>
          </a:xfrm>
          <a:prstGeom prst="rect">
            <a:avLst/>
          </a:prstGeom>
          <a:noFill/>
          <a:ln/>
        </p:spPr>
        <p:txBody>
          <a:bodyPr wrap="square" lIns="0" tIns="0" rIns="0" bIns="0" rtlCol="0" anchor="ctr"/>
          <a:lstStyle/>
          <a:p>
            <a:pPr indent="0" marL="0">
              <a:buNone/>
            </a:pPr>
            <a:r>
              <a:rPr lang="en-US" sz="1800" b="1" dirty="0">
                <a:solidFill>
                  <a:srgbClr val="10201C"/>
                </a:solidFill>
                <a:latin typeface="Manrope" pitchFamily="34" charset="0"/>
                <a:ea typeface="Manrope" pitchFamily="34" charset="-122"/>
                <a:cs typeface="Manrope" pitchFamily="34" charset="-120"/>
              </a:rPr>
              <a:t>Learns your voice</a:t>
            </a:r>
            <a:endParaRPr lang="en-US" sz="1800" dirty="0"/>
          </a:p>
        </p:txBody>
      </p:sp>
      <p:sp>
        <p:nvSpPr>
          <p:cNvPr id="26" name="Text 23"/>
          <p:cNvSpPr/>
          <p:nvPr/>
        </p:nvSpPr>
        <p:spPr>
          <a:xfrm>
            <a:off x="7726680" y="4178808"/>
            <a:ext cx="3931920" cy="548640"/>
          </a:xfrm>
          <a:prstGeom prst="rect">
            <a:avLst/>
          </a:prstGeom>
          <a:noFill/>
          <a:ln/>
        </p:spPr>
        <p:txBody>
          <a:bodyPr wrap="square" lIns="0" tIns="0" rIns="0" bIns="0" rtlCol="0" anchor="ctr"/>
          <a:lstStyle/>
          <a:p>
            <a:pPr indent="0" marL="0">
              <a:buNone/>
            </a:pPr>
            <a:r>
              <a:rPr lang="en-US" sz="1500" dirty="0">
                <a:solidFill>
                  <a:srgbClr val="3E504B"/>
                </a:solidFill>
                <a:latin typeface="Manrope" pitchFamily="34" charset="0"/>
                <a:ea typeface="Manrope" pitchFamily="34" charset="-122"/>
                <a:cs typeface="Manrope" pitchFamily="34" charset="-120"/>
              </a:rPr>
              <a:t>It reads your past posts to sound like you.</a:t>
            </a:r>
            <a:endParaRPr lang="en-US" sz="1500" dirty="0"/>
          </a:p>
        </p:txBody>
      </p:sp>
      <p:sp>
        <p:nvSpPr>
          <p:cNvPr id="27" name="Shape 24"/>
          <p:cNvSpPr/>
          <p:nvPr/>
        </p:nvSpPr>
        <p:spPr>
          <a:xfrm>
            <a:off x="4206240" y="4946904"/>
            <a:ext cx="512064" cy="512064"/>
          </a:xfrm>
          <a:prstGeom prst="ellipse">
            <a:avLst/>
          </a:prstGeom>
          <a:solidFill>
            <a:srgbClr val="0F5A4F"/>
          </a:solidFill>
          <a:ln w="38100">
            <a:solidFill>
              <a:srgbClr val="F6F8F7"/>
            </a:solidFill>
            <a:prstDash val="solid"/>
          </a:ln>
        </p:spPr>
      </p:sp>
      <p:sp>
        <p:nvSpPr>
          <p:cNvPr id="28" name="Text 25"/>
          <p:cNvSpPr/>
          <p:nvPr/>
        </p:nvSpPr>
        <p:spPr>
          <a:xfrm>
            <a:off x="4206240" y="4946904"/>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Fraunces" pitchFamily="34" charset="0"/>
                <a:ea typeface="Fraunces" pitchFamily="34" charset="-122"/>
                <a:cs typeface="Fraunces" pitchFamily="34" charset="-120"/>
              </a:rPr>
              <a:t>4</a:t>
            </a:r>
            <a:endParaRPr lang="en-US" sz="1700" dirty="0"/>
          </a:p>
        </p:txBody>
      </p:sp>
      <p:sp>
        <p:nvSpPr>
          <p:cNvPr id="29" name="Text 26"/>
          <p:cNvSpPr/>
          <p:nvPr/>
        </p:nvSpPr>
        <p:spPr>
          <a:xfrm>
            <a:off x="4983480" y="4928616"/>
            <a:ext cx="2743200" cy="548640"/>
          </a:xfrm>
          <a:prstGeom prst="rect">
            <a:avLst/>
          </a:prstGeom>
          <a:noFill/>
          <a:ln/>
        </p:spPr>
        <p:txBody>
          <a:bodyPr wrap="square" lIns="0" tIns="0" rIns="0" bIns="0" rtlCol="0" anchor="ctr"/>
          <a:lstStyle/>
          <a:p>
            <a:pPr indent="0" marL="0">
              <a:buNone/>
            </a:pPr>
            <a:r>
              <a:rPr lang="en-US" sz="1800" b="1" dirty="0">
                <a:solidFill>
                  <a:srgbClr val="10201C"/>
                </a:solidFill>
                <a:latin typeface="Manrope" pitchFamily="34" charset="0"/>
                <a:ea typeface="Manrope" pitchFamily="34" charset="-122"/>
                <a:cs typeface="Manrope" pitchFamily="34" charset="-120"/>
              </a:rPr>
              <a:t>Drafts with sources</a:t>
            </a:r>
            <a:endParaRPr lang="en-US" sz="1800" dirty="0"/>
          </a:p>
        </p:txBody>
      </p:sp>
      <p:sp>
        <p:nvSpPr>
          <p:cNvPr id="30" name="Text 27"/>
          <p:cNvSpPr/>
          <p:nvPr/>
        </p:nvSpPr>
        <p:spPr>
          <a:xfrm>
            <a:off x="7726680" y="4928616"/>
            <a:ext cx="3931920" cy="548640"/>
          </a:xfrm>
          <a:prstGeom prst="rect">
            <a:avLst/>
          </a:prstGeom>
          <a:noFill/>
          <a:ln/>
        </p:spPr>
        <p:txBody>
          <a:bodyPr wrap="square" lIns="0" tIns="0" rIns="0" bIns="0" rtlCol="0" anchor="ctr"/>
          <a:lstStyle/>
          <a:p>
            <a:pPr indent="0" marL="0">
              <a:buNone/>
            </a:pPr>
            <a:r>
              <a:rPr lang="en-US" sz="1500" dirty="0">
                <a:solidFill>
                  <a:srgbClr val="3E504B"/>
                </a:solidFill>
                <a:latin typeface="Manrope" pitchFamily="34" charset="0"/>
                <a:ea typeface="Manrope" pitchFamily="34" charset="-122"/>
                <a:cs typeface="Manrope" pitchFamily="34" charset="-120"/>
              </a:rPr>
              <a:t>Your photos, plus live research sources.</a:t>
            </a:r>
            <a:endParaRPr lang="en-US" sz="1500" dirty="0"/>
          </a:p>
        </p:txBody>
      </p:sp>
      <p:sp>
        <p:nvSpPr>
          <p:cNvPr id="31" name="Shape 28"/>
          <p:cNvSpPr/>
          <p:nvPr/>
        </p:nvSpPr>
        <p:spPr>
          <a:xfrm>
            <a:off x="4206240" y="5852160"/>
            <a:ext cx="3566160" cy="502920"/>
          </a:xfrm>
          <a:prstGeom prst="roundRect">
            <a:avLst>
              <a:gd name="adj" fmla="val 50000"/>
            </a:avLst>
          </a:prstGeom>
          <a:solidFill>
            <a:srgbClr val="0F5A4F"/>
          </a:solidFill>
          <a:ln w="12700">
            <a:solidFill>
              <a:srgbClr val="0F5A4F"/>
            </a:solidFill>
            <a:prstDash val="solid"/>
          </a:ln>
        </p:spPr>
      </p:sp>
      <p:sp>
        <p:nvSpPr>
          <p:cNvPr id="32" name="Shape 29"/>
          <p:cNvSpPr/>
          <p:nvPr/>
        </p:nvSpPr>
        <p:spPr>
          <a:xfrm>
            <a:off x="4297680" y="5966460"/>
            <a:ext cx="274320" cy="274320"/>
          </a:xfrm>
          <a:prstGeom prst="ellipse">
            <a:avLst/>
          </a:prstGeom>
          <a:solidFill>
            <a:srgbClr val="1D9A84"/>
          </a:solidFill>
          <a:ln/>
        </p:spPr>
      </p:sp>
      <p:sp>
        <p:nvSpPr>
          <p:cNvPr id="33" name="Text 30"/>
          <p:cNvSpPr/>
          <p:nvPr/>
        </p:nvSpPr>
        <p:spPr>
          <a:xfrm>
            <a:off x="4297680" y="596646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anrope" pitchFamily="34" charset="0"/>
                <a:ea typeface="Manrope" pitchFamily="34" charset="-122"/>
                <a:cs typeface="Manrope" pitchFamily="34" charset="-120"/>
              </a:rPr>
              <a:t>✓</a:t>
            </a:r>
            <a:endParaRPr lang="en-US" sz="1200" dirty="0"/>
          </a:p>
        </p:txBody>
      </p:sp>
      <p:sp>
        <p:nvSpPr>
          <p:cNvPr id="34" name="Text 31"/>
          <p:cNvSpPr/>
          <p:nvPr/>
        </p:nvSpPr>
        <p:spPr>
          <a:xfrm>
            <a:off x="4663440" y="5852160"/>
            <a:ext cx="3017520" cy="502920"/>
          </a:xfrm>
          <a:prstGeom prst="rect">
            <a:avLst/>
          </a:prstGeom>
          <a:noFill/>
          <a:ln/>
        </p:spPr>
        <p:txBody>
          <a:bodyPr wrap="square" lIns="0" tIns="0" rIns="0" bIns="0" rtlCol="0" anchor="ctr"/>
          <a:lstStyle/>
          <a:p>
            <a:pPr algn="l" indent="0" marL="0">
              <a:buNone/>
            </a:pPr>
            <a:r>
              <a:rPr lang="en-US" sz="1500" b="1" dirty="0">
                <a:solidFill>
                  <a:srgbClr val="FFFFFF"/>
                </a:solidFill>
                <a:latin typeface="Manrope" pitchFamily="34" charset="0"/>
                <a:ea typeface="Manrope" pitchFamily="34" charset="-122"/>
                <a:cs typeface="Manrope" pitchFamily="34" charset="-120"/>
              </a:rPr>
              <a:t>Posting is always your tap.</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8F7"/>
        </a:solidFill>
      </p:bgPr>
    </p:bg>
    <p:spTree>
      <p:nvGrpSpPr>
        <p:cNvPr id="1" name=""/>
        <p:cNvGrpSpPr/>
        <p:nvPr/>
      </p:nvGrpSpPr>
      <p:grpSpPr>
        <a:xfrm>
          <a:off x="0" y="0"/>
          <a:ext cx="0" cy="0"/>
          <a:chOff x="0" y="0"/>
          <a:chExt cx="0" cy="0"/>
        </a:xfrm>
      </p:grpSpPr>
      <p:pic>
        <p:nvPicPr>
          <p:cNvPr id="2" name="Image 0" descr="/workspace/slides/voxa-pitch-CTbDK0/assets/voxa-mark.png">    </p:cNvPr>
          <p:cNvPicPr>
            <a:picLocks noChangeAspect="1"/>
          </p:cNvPicPr>
          <p:nvPr/>
        </p:nvPicPr>
        <p:blipFill>
          <a:blip r:embed="rId1"/>
          <a:stretch>
            <a:fillRect/>
          </a:stretch>
        </p:blipFill>
        <p:spPr>
          <a:xfrm>
            <a:off x="548640" y="384048"/>
            <a:ext cx="329184" cy="329184"/>
          </a:xfrm>
          <a:prstGeom prst="rect">
            <a:avLst/>
          </a:prstGeom>
        </p:spPr>
      </p:pic>
      <p:sp>
        <p:nvSpPr>
          <p:cNvPr id="3" name="Text 0"/>
          <p:cNvSpPr/>
          <p:nvPr/>
        </p:nvSpPr>
        <p:spPr>
          <a:xfrm>
            <a:off x="969264" y="365760"/>
            <a:ext cx="1371600" cy="365760"/>
          </a:xfrm>
          <a:prstGeom prst="rect">
            <a:avLst/>
          </a:prstGeom>
          <a:noFill/>
          <a:ln/>
        </p:spPr>
        <p:txBody>
          <a:bodyPr wrap="square" lIns="0" tIns="0" rIns="0" bIns="0" rtlCol="0" anchor="ctr"/>
          <a:lstStyle/>
          <a:p>
            <a:pPr indent="0" marL="0">
              <a:buNone/>
            </a:pPr>
            <a:r>
              <a:rPr lang="en-US" sz="1700" b="1" dirty="0">
                <a:solidFill>
                  <a:srgbClr val="10201C"/>
                </a:solidFill>
                <a:latin typeface="Fraunces" pitchFamily="34" charset="0"/>
                <a:ea typeface="Fraunces" pitchFamily="34" charset="-122"/>
                <a:cs typeface="Fraunces" pitchFamily="34" charset="-120"/>
              </a:rPr>
              <a:t>Voxa</a:t>
            </a:r>
            <a:endParaRPr lang="en-US" sz="1700" dirty="0"/>
          </a:p>
        </p:txBody>
      </p:sp>
      <p:sp>
        <p:nvSpPr>
          <p:cNvPr id="4" name="Text 1"/>
          <p:cNvSpPr/>
          <p:nvPr/>
        </p:nvSpPr>
        <p:spPr>
          <a:xfrm>
            <a:off x="10241280" y="365760"/>
            <a:ext cx="1399032" cy="365760"/>
          </a:xfrm>
          <a:prstGeom prst="rect">
            <a:avLst/>
          </a:prstGeom>
          <a:noFill/>
          <a:ln/>
        </p:spPr>
        <p:txBody>
          <a:bodyPr wrap="square" lIns="0" tIns="0" rIns="0" bIns="0" rtlCol="0" anchor="ctr"/>
          <a:lstStyle/>
          <a:p>
            <a:pPr algn="r" indent="0" marL="0">
              <a:buNone/>
            </a:pPr>
            <a:r>
              <a:rPr lang="en-US" sz="1100" dirty="0">
                <a:solidFill>
                  <a:srgbClr val="6B7C77"/>
                </a:solidFill>
                <a:latin typeface="Manrope" pitchFamily="34" charset="0"/>
                <a:ea typeface="Manrope" pitchFamily="34" charset="-122"/>
                <a:cs typeface="Manrope" pitchFamily="34" charset="-120"/>
              </a:rPr>
              <a:t>07 / 11</a:t>
            </a:r>
            <a:endParaRPr lang="en-US" sz="1100" dirty="0"/>
          </a:p>
        </p:txBody>
      </p:sp>
      <p:sp>
        <p:nvSpPr>
          <p:cNvPr id="5" name="Text 2"/>
          <p:cNvSpPr/>
          <p:nvPr/>
        </p:nvSpPr>
        <p:spPr>
          <a:xfrm>
            <a:off x="685800" y="1188720"/>
            <a:ext cx="4572000" cy="274320"/>
          </a:xfrm>
          <a:prstGeom prst="rect">
            <a:avLst/>
          </a:prstGeom>
          <a:noFill/>
          <a:ln/>
        </p:spPr>
        <p:txBody>
          <a:bodyPr wrap="square" lIns="0" tIns="0" rIns="0" bIns="0" rtlCol="0" anchor="t"/>
          <a:lstStyle/>
          <a:p>
            <a:pPr indent="0" marL="0">
              <a:buNone/>
            </a:pPr>
            <a:r>
              <a:rPr lang="en-US" sz="1200" b="1" spc="250" kern="0" dirty="0">
                <a:solidFill>
                  <a:srgbClr val="1D9A84"/>
                </a:solidFill>
                <a:latin typeface="Manrope" pitchFamily="34" charset="0"/>
                <a:ea typeface="Manrope" pitchFamily="34" charset="-122"/>
                <a:cs typeface="Manrope" pitchFamily="34" charset="-120"/>
              </a:rPr>
              <a:t>EMAIL</a:t>
            </a:r>
            <a:endParaRPr lang="en-US" sz="1200" dirty="0"/>
          </a:p>
        </p:txBody>
      </p:sp>
      <p:sp>
        <p:nvSpPr>
          <p:cNvPr id="6" name="Text 3"/>
          <p:cNvSpPr/>
          <p:nvPr/>
        </p:nvSpPr>
        <p:spPr>
          <a:xfrm>
            <a:off x="685800" y="1554480"/>
            <a:ext cx="7315200" cy="822960"/>
          </a:xfrm>
          <a:prstGeom prst="rect">
            <a:avLst/>
          </a:prstGeom>
          <a:noFill/>
          <a:ln/>
        </p:spPr>
        <p:txBody>
          <a:bodyPr wrap="square" lIns="0" tIns="0" rIns="0" bIns="0" rtlCol="0" anchor="t"/>
          <a:lstStyle/>
          <a:p>
            <a:pPr indent="0" marL="0">
              <a:buNone/>
            </a:pPr>
            <a:r>
              <a:rPr lang="en-US" sz="4400" b="1" dirty="0">
                <a:solidFill>
                  <a:srgbClr val="10201C"/>
                </a:solidFill>
                <a:latin typeface="Fraunces" pitchFamily="34" charset="0"/>
                <a:ea typeface="Fraunces" pitchFamily="34" charset="-122"/>
                <a:cs typeface="Fraunces" pitchFamily="34" charset="-120"/>
              </a:rPr>
              <a:t>Your inbox, by voice.</a:t>
            </a:r>
            <a:endParaRPr lang="en-US" sz="4400" dirty="0"/>
          </a:p>
        </p:txBody>
      </p:sp>
      <p:sp>
        <p:nvSpPr>
          <p:cNvPr id="7" name="Text 4"/>
          <p:cNvSpPr/>
          <p:nvPr/>
        </p:nvSpPr>
        <p:spPr>
          <a:xfrm>
            <a:off x="685800" y="2423160"/>
            <a:ext cx="7315200" cy="457200"/>
          </a:xfrm>
          <a:prstGeom prst="rect">
            <a:avLst/>
          </a:prstGeom>
          <a:noFill/>
          <a:ln/>
        </p:spPr>
        <p:txBody>
          <a:bodyPr wrap="square" lIns="0" tIns="0" rIns="0" bIns="0" rtlCol="0" anchor="t"/>
          <a:lstStyle/>
          <a:p>
            <a:pPr indent="0" marL="0">
              <a:lnSpc>
                <a:spcPct val="130000"/>
              </a:lnSpc>
              <a:buNone/>
            </a:pPr>
            <a:r>
              <a:rPr lang="en-US" sz="1900" dirty="0">
                <a:solidFill>
                  <a:srgbClr val="3E504B"/>
                </a:solidFill>
                <a:latin typeface="Manrope" pitchFamily="34" charset="0"/>
                <a:ea typeface="Manrope" pitchFamily="34" charset="-122"/>
                <a:cs typeface="Manrope" pitchFamily="34" charset="-120"/>
              </a:rPr>
              <a:t>Ask what came in. Voxa sorts it out.</a:t>
            </a:r>
            <a:endParaRPr lang="en-US" sz="1900" dirty="0"/>
          </a:p>
        </p:txBody>
      </p:sp>
      <p:sp>
        <p:nvSpPr>
          <p:cNvPr id="8" name="Shape 5"/>
          <p:cNvSpPr/>
          <p:nvPr/>
        </p:nvSpPr>
        <p:spPr>
          <a:xfrm>
            <a:off x="685800" y="3246120"/>
            <a:ext cx="3657600" cy="2331720"/>
          </a:xfrm>
          <a:prstGeom prst="roundRect">
            <a:avLst>
              <a:gd name="adj" fmla="val 9804"/>
            </a:avLst>
          </a:prstGeom>
          <a:solidFill>
            <a:srgbClr val="FFFFFF"/>
          </a:solidFill>
          <a:ln/>
          <a:effectLst>
            <a:outerShdw sx="100000" sy="100000" kx="0" ky="0" algn="bl" rotWithShape="0" blurRad="304800" dist="50800" dir="5400000">
              <a:srgbClr val="0F5A4F">
                <a:alpha val="10000"/>
              </a:srgbClr>
            </a:outerShdw>
          </a:effectLst>
        </p:spPr>
      </p:sp>
      <p:sp>
        <p:nvSpPr>
          <p:cNvPr id="9" name="Shape 6"/>
          <p:cNvSpPr/>
          <p:nvPr/>
        </p:nvSpPr>
        <p:spPr>
          <a:xfrm>
            <a:off x="1005840" y="3566160"/>
            <a:ext cx="502920" cy="502920"/>
          </a:xfrm>
          <a:prstGeom prst="roundRect">
            <a:avLst>
              <a:gd name="adj" fmla="val 27273"/>
            </a:avLst>
          </a:prstGeom>
          <a:solidFill>
            <a:srgbClr val="E3F1EC"/>
          </a:solidFill>
          <a:ln/>
        </p:spPr>
      </p:sp>
      <p:sp>
        <p:nvSpPr>
          <p:cNvPr id="10" name="Text 7"/>
          <p:cNvSpPr/>
          <p:nvPr/>
        </p:nvSpPr>
        <p:spPr>
          <a:xfrm>
            <a:off x="1005840" y="3566160"/>
            <a:ext cx="502920" cy="502920"/>
          </a:xfrm>
          <a:prstGeom prst="rect">
            <a:avLst/>
          </a:prstGeom>
          <a:noFill/>
          <a:ln/>
        </p:spPr>
        <p:txBody>
          <a:bodyPr wrap="square" lIns="0" tIns="0" rIns="0" bIns="0" rtlCol="0" anchor="ctr"/>
          <a:lstStyle/>
          <a:p>
            <a:pPr algn="ctr" indent="0" marL="0">
              <a:buNone/>
            </a:pPr>
            <a:r>
              <a:rPr lang="en-US" sz="2000" b="1" dirty="0">
                <a:solidFill>
                  <a:srgbClr val="0F5A4F"/>
                </a:solidFill>
                <a:latin typeface="Manrope" pitchFamily="34" charset="0"/>
                <a:ea typeface="Manrope" pitchFamily="34" charset="-122"/>
                <a:cs typeface="Manrope" pitchFamily="34" charset="-120"/>
              </a:rPr>
              <a:t>#</a:t>
            </a:r>
            <a:endParaRPr lang="en-US" sz="2000" dirty="0"/>
          </a:p>
        </p:txBody>
      </p:sp>
      <p:sp>
        <p:nvSpPr>
          <p:cNvPr id="11" name="Text 8"/>
          <p:cNvSpPr/>
          <p:nvPr/>
        </p:nvSpPr>
        <p:spPr>
          <a:xfrm>
            <a:off x="1005840" y="4206240"/>
            <a:ext cx="3108960" cy="411480"/>
          </a:xfrm>
          <a:prstGeom prst="rect">
            <a:avLst/>
          </a:prstGeom>
          <a:noFill/>
          <a:ln/>
        </p:spPr>
        <p:txBody>
          <a:bodyPr wrap="square" lIns="0" tIns="0" rIns="0" bIns="0" rtlCol="0" anchor="ctr"/>
          <a:lstStyle/>
          <a:p>
            <a:pPr indent="0" marL="0">
              <a:buNone/>
            </a:pPr>
            <a:r>
              <a:rPr lang="en-US" sz="1800" b="1" dirty="0">
                <a:solidFill>
                  <a:srgbClr val="10201C"/>
                </a:solidFill>
                <a:latin typeface="Manrope" pitchFamily="34" charset="0"/>
                <a:ea typeface="Manrope" pitchFamily="34" charset="-122"/>
                <a:cs typeface="Manrope" pitchFamily="34" charset="-120"/>
              </a:rPr>
              <a:t>Tagged to the listing</a:t>
            </a:r>
            <a:endParaRPr lang="en-US" sz="1800" dirty="0"/>
          </a:p>
        </p:txBody>
      </p:sp>
      <p:sp>
        <p:nvSpPr>
          <p:cNvPr id="12" name="Text 9"/>
          <p:cNvSpPr/>
          <p:nvPr/>
        </p:nvSpPr>
        <p:spPr>
          <a:xfrm>
            <a:off x="1005840" y="4645152"/>
            <a:ext cx="3063240" cy="777240"/>
          </a:xfrm>
          <a:prstGeom prst="rect">
            <a:avLst/>
          </a:prstGeom>
          <a:noFill/>
          <a:ln/>
        </p:spPr>
        <p:txBody>
          <a:bodyPr wrap="square" lIns="0" tIns="0" rIns="0" bIns="0" rtlCol="0" anchor="t"/>
          <a:lstStyle/>
          <a:p>
            <a:pPr indent="0" marL="0">
              <a:lnSpc>
                <a:spcPct val="130000"/>
              </a:lnSpc>
              <a:buNone/>
            </a:pPr>
            <a:r>
              <a:rPr lang="en-US" sz="1500" dirty="0">
                <a:solidFill>
                  <a:srgbClr val="3E504B"/>
                </a:solidFill>
                <a:latin typeface="Manrope" pitchFamily="34" charset="0"/>
                <a:ea typeface="Manrope" pitchFamily="34" charset="-122"/>
                <a:cs typeface="Manrope" pitchFamily="34" charset="-120"/>
              </a:rPr>
              <a:t>Voxa tags each email to the listing it belongs to.</a:t>
            </a:r>
            <a:endParaRPr lang="en-US" sz="1500" dirty="0"/>
          </a:p>
        </p:txBody>
      </p:sp>
      <p:sp>
        <p:nvSpPr>
          <p:cNvPr id="13" name="Shape 10"/>
          <p:cNvSpPr/>
          <p:nvPr/>
        </p:nvSpPr>
        <p:spPr>
          <a:xfrm>
            <a:off x="4572000" y="3246120"/>
            <a:ext cx="3657600" cy="2331720"/>
          </a:xfrm>
          <a:prstGeom prst="roundRect">
            <a:avLst>
              <a:gd name="adj" fmla="val 9804"/>
            </a:avLst>
          </a:prstGeom>
          <a:solidFill>
            <a:srgbClr val="FFFFFF"/>
          </a:solidFill>
          <a:ln/>
          <a:effectLst>
            <a:outerShdw sx="100000" sy="100000" kx="0" ky="0" algn="bl" rotWithShape="0" blurRad="304800" dist="50800" dir="5400000">
              <a:srgbClr val="0F5A4F">
                <a:alpha val="10000"/>
              </a:srgbClr>
            </a:outerShdw>
          </a:effectLst>
        </p:spPr>
      </p:sp>
      <p:sp>
        <p:nvSpPr>
          <p:cNvPr id="14" name="Shape 11"/>
          <p:cNvSpPr/>
          <p:nvPr/>
        </p:nvSpPr>
        <p:spPr>
          <a:xfrm>
            <a:off x="4892040" y="3566160"/>
            <a:ext cx="502920" cy="502920"/>
          </a:xfrm>
          <a:prstGeom prst="roundRect">
            <a:avLst>
              <a:gd name="adj" fmla="val 27273"/>
            </a:avLst>
          </a:prstGeom>
          <a:solidFill>
            <a:srgbClr val="E3F1EC"/>
          </a:solidFill>
          <a:ln/>
        </p:spPr>
      </p:sp>
      <p:sp>
        <p:nvSpPr>
          <p:cNvPr id="15" name="Text 12"/>
          <p:cNvSpPr/>
          <p:nvPr/>
        </p:nvSpPr>
        <p:spPr>
          <a:xfrm>
            <a:off x="4892040" y="3566160"/>
            <a:ext cx="502920" cy="502920"/>
          </a:xfrm>
          <a:prstGeom prst="rect">
            <a:avLst/>
          </a:prstGeom>
          <a:noFill/>
          <a:ln/>
        </p:spPr>
        <p:txBody>
          <a:bodyPr wrap="square" lIns="0" tIns="0" rIns="0" bIns="0" rtlCol="0" anchor="ctr"/>
          <a:lstStyle/>
          <a:p>
            <a:pPr algn="ctr" indent="0" marL="0">
              <a:buNone/>
            </a:pPr>
            <a:r>
              <a:rPr lang="en-US" sz="2000" b="1" dirty="0">
                <a:solidFill>
                  <a:srgbClr val="0F5A4F"/>
                </a:solidFill>
                <a:latin typeface="Manrope" pitchFamily="34" charset="0"/>
                <a:ea typeface="Manrope" pitchFamily="34" charset="-122"/>
                <a:cs typeface="Manrope" pitchFamily="34" charset="-120"/>
              </a:rPr>
              <a:t>§</a:t>
            </a:r>
            <a:endParaRPr lang="en-US" sz="2000" dirty="0"/>
          </a:p>
        </p:txBody>
      </p:sp>
      <p:sp>
        <p:nvSpPr>
          <p:cNvPr id="16" name="Text 13"/>
          <p:cNvSpPr/>
          <p:nvPr/>
        </p:nvSpPr>
        <p:spPr>
          <a:xfrm>
            <a:off x="4892040" y="4206240"/>
            <a:ext cx="3108960" cy="411480"/>
          </a:xfrm>
          <a:prstGeom prst="rect">
            <a:avLst/>
          </a:prstGeom>
          <a:noFill/>
          <a:ln/>
        </p:spPr>
        <p:txBody>
          <a:bodyPr wrap="square" lIns="0" tIns="0" rIns="0" bIns="0" rtlCol="0" anchor="ctr"/>
          <a:lstStyle/>
          <a:p>
            <a:pPr indent="0" marL="0">
              <a:buNone/>
            </a:pPr>
            <a:r>
              <a:rPr lang="en-US" sz="1800" b="1" dirty="0">
                <a:solidFill>
                  <a:srgbClr val="10201C"/>
                </a:solidFill>
                <a:latin typeface="Manrope" pitchFamily="34" charset="0"/>
                <a:ea typeface="Manrope" pitchFamily="34" charset="-122"/>
                <a:cs typeface="Manrope" pitchFamily="34" charset="-120"/>
              </a:rPr>
              <a:t>Documents, summarized</a:t>
            </a:r>
            <a:endParaRPr lang="en-US" sz="1800" dirty="0"/>
          </a:p>
        </p:txBody>
      </p:sp>
      <p:sp>
        <p:nvSpPr>
          <p:cNvPr id="17" name="Text 14"/>
          <p:cNvSpPr/>
          <p:nvPr/>
        </p:nvSpPr>
        <p:spPr>
          <a:xfrm>
            <a:off x="4892040" y="4645152"/>
            <a:ext cx="3063240" cy="777240"/>
          </a:xfrm>
          <a:prstGeom prst="rect">
            <a:avLst/>
          </a:prstGeom>
          <a:noFill/>
          <a:ln/>
        </p:spPr>
        <p:txBody>
          <a:bodyPr wrap="square" lIns="0" tIns="0" rIns="0" bIns="0" rtlCol="0" anchor="t"/>
          <a:lstStyle/>
          <a:p>
            <a:pPr indent="0" marL="0">
              <a:lnSpc>
                <a:spcPct val="130000"/>
              </a:lnSpc>
              <a:buNone/>
            </a:pPr>
            <a:r>
              <a:rPr lang="en-US" sz="1500" dirty="0">
                <a:solidFill>
                  <a:srgbClr val="3E504B"/>
                </a:solidFill>
                <a:latin typeface="Manrope" pitchFamily="34" charset="0"/>
                <a:ea typeface="Manrope" pitchFamily="34" charset="-122"/>
                <a:cs typeface="Manrope" pitchFamily="34" charset="-120"/>
              </a:rPr>
              <a:t>Quick summaries of attachments, like contract highlights.</a:t>
            </a:r>
            <a:endParaRPr lang="en-US" sz="1500" dirty="0"/>
          </a:p>
        </p:txBody>
      </p:sp>
      <p:sp>
        <p:nvSpPr>
          <p:cNvPr id="18" name="Text 15"/>
          <p:cNvSpPr/>
          <p:nvPr/>
        </p:nvSpPr>
        <p:spPr>
          <a:xfrm>
            <a:off x="685800" y="5852160"/>
            <a:ext cx="7498080" cy="365760"/>
          </a:xfrm>
          <a:prstGeom prst="rect">
            <a:avLst/>
          </a:prstGeom>
          <a:noFill/>
          <a:ln/>
        </p:spPr>
        <p:txBody>
          <a:bodyPr wrap="square" lIns="0" tIns="0" rIns="0" bIns="0" rtlCol="0" anchor="ctr"/>
          <a:lstStyle/>
          <a:p>
            <a:pPr indent="0" marL="0">
              <a:buNone/>
            </a:pPr>
            <a:r>
              <a:rPr lang="en-US" sz="1300" i="1" dirty="0">
                <a:solidFill>
                  <a:srgbClr val="6B7C77"/>
                </a:solidFill>
                <a:latin typeface="Manrope" pitchFamily="34" charset="0"/>
                <a:ea typeface="Manrope" pitchFamily="34" charset="-122"/>
                <a:cs typeface="Manrope" pitchFamily="34" charset="-120"/>
              </a:rPr>
              <a:t>Summaries help you read faster. They are not legal advice.</a:t>
            </a:r>
            <a:endParaRPr lang="en-US" sz="1300" dirty="0"/>
          </a:p>
        </p:txBody>
      </p:sp>
      <p:sp>
        <p:nvSpPr>
          <p:cNvPr id="19" name="VIDEO_SLOT Demo 3"/>
          <p:cNvSpPr/>
          <p:nvPr/>
        </p:nvSpPr>
        <p:spPr>
          <a:xfrm>
            <a:off x="8915400" y="868680"/>
            <a:ext cx="2574036" cy="5577840"/>
          </a:xfrm>
          <a:prstGeom prst="roundRect">
            <a:avLst>
              <a:gd name="adj" fmla="val 14920"/>
            </a:avLst>
          </a:prstGeom>
          <a:solidFill>
            <a:srgbClr val="10201C"/>
          </a:solidFill>
          <a:ln/>
          <a:effectLst>
            <a:outerShdw sx="100000" sy="100000" kx="0" ky="0" algn="bl" rotWithShape="0" blurRad="304800" dist="50800" dir="5400000">
              <a:srgbClr val="0F5A4F">
                <a:alpha val="10000"/>
              </a:srgbClr>
            </a:outerShdw>
          </a:effectLst>
        </p:spPr>
      </p:sp>
      <p:sp>
        <p:nvSpPr>
          <p:cNvPr id="20" name="Shape 17"/>
          <p:cNvSpPr/>
          <p:nvPr/>
        </p:nvSpPr>
        <p:spPr>
          <a:xfrm>
            <a:off x="9006840" y="960120"/>
            <a:ext cx="2391156" cy="5394960"/>
          </a:xfrm>
          <a:prstGeom prst="roundRect">
            <a:avLst>
              <a:gd name="adj" fmla="val 13002"/>
            </a:avLst>
          </a:prstGeom>
          <a:solidFill>
            <a:srgbClr val="E3F1EC"/>
          </a:solidFill>
          <a:ln/>
        </p:spPr>
      </p:sp>
      <p:sp>
        <p:nvSpPr>
          <p:cNvPr id="21" name="Shape 18"/>
          <p:cNvSpPr/>
          <p:nvPr/>
        </p:nvSpPr>
        <p:spPr>
          <a:xfrm>
            <a:off x="9790938" y="1051560"/>
            <a:ext cx="822960" cy="201168"/>
          </a:xfrm>
          <a:prstGeom prst="roundRect">
            <a:avLst>
              <a:gd name="adj" fmla="val 50000"/>
            </a:avLst>
          </a:prstGeom>
          <a:solidFill>
            <a:srgbClr val="10201C"/>
          </a:solidFill>
          <a:ln/>
        </p:spPr>
      </p:sp>
      <p:sp>
        <p:nvSpPr>
          <p:cNvPr id="22" name="Shape 19"/>
          <p:cNvSpPr/>
          <p:nvPr/>
        </p:nvSpPr>
        <p:spPr>
          <a:xfrm>
            <a:off x="9790938" y="2971800"/>
            <a:ext cx="822960" cy="822960"/>
          </a:xfrm>
          <a:prstGeom prst="ellipse">
            <a:avLst/>
          </a:prstGeom>
          <a:solidFill>
            <a:srgbClr val="0F5A4F"/>
          </a:solidFill>
          <a:ln/>
        </p:spPr>
      </p:sp>
      <p:sp>
        <p:nvSpPr>
          <p:cNvPr id="23" name="Shape 20"/>
          <p:cNvSpPr/>
          <p:nvPr/>
        </p:nvSpPr>
        <p:spPr>
          <a:xfrm rot="5400000">
            <a:off x="10083546" y="3218688"/>
            <a:ext cx="329184" cy="329184"/>
          </a:xfrm>
          <a:prstGeom prst="triangle">
            <a:avLst/>
          </a:prstGeom>
          <a:solidFill>
            <a:srgbClr val="FFFFFF"/>
          </a:solidFill>
          <a:ln/>
        </p:spPr>
      </p:sp>
      <p:sp>
        <p:nvSpPr>
          <p:cNvPr id="24" name="Text 21"/>
          <p:cNvSpPr/>
          <p:nvPr/>
        </p:nvSpPr>
        <p:spPr>
          <a:xfrm>
            <a:off x="8915400" y="3977640"/>
            <a:ext cx="2574036" cy="457200"/>
          </a:xfrm>
          <a:prstGeom prst="rect">
            <a:avLst/>
          </a:prstGeom>
          <a:noFill/>
          <a:ln/>
        </p:spPr>
        <p:txBody>
          <a:bodyPr wrap="square" lIns="0" tIns="0" rIns="0" bIns="0" rtlCol="0" anchor="ctr"/>
          <a:lstStyle/>
          <a:p>
            <a:pPr algn="ctr" indent="0" marL="0">
              <a:buNone/>
            </a:pPr>
            <a:r>
              <a:rPr lang="en-US" sz="2400" b="1" dirty="0">
                <a:solidFill>
                  <a:srgbClr val="0F5A4F"/>
                </a:solidFill>
                <a:latin typeface="Fraunces" pitchFamily="34" charset="0"/>
                <a:ea typeface="Fraunces" pitchFamily="34" charset="-122"/>
                <a:cs typeface="Fraunces" pitchFamily="34" charset="-120"/>
              </a:rPr>
              <a:t>Demo 3</a:t>
            </a:r>
            <a:endParaRPr lang="en-US" sz="2400" dirty="0"/>
          </a:p>
        </p:txBody>
      </p:sp>
      <p:sp>
        <p:nvSpPr>
          <p:cNvPr id="25" name="Text 22"/>
          <p:cNvSpPr/>
          <p:nvPr/>
        </p:nvSpPr>
        <p:spPr>
          <a:xfrm>
            <a:off x="8915400" y="4434840"/>
            <a:ext cx="2574036" cy="320040"/>
          </a:xfrm>
          <a:prstGeom prst="rect">
            <a:avLst/>
          </a:prstGeom>
          <a:noFill/>
          <a:ln/>
        </p:spPr>
        <p:txBody>
          <a:bodyPr wrap="square" lIns="0" tIns="0" rIns="0" bIns="0" rtlCol="0" anchor="ctr"/>
          <a:lstStyle/>
          <a:p>
            <a:pPr algn="ctr" indent="0" marL="0">
              <a:buNone/>
            </a:pPr>
            <a:r>
              <a:rPr lang="en-US" sz="1200" dirty="0">
                <a:solidFill>
                  <a:srgbClr val="6B7C77"/>
                </a:solidFill>
                <a:latin typeface="Manrope" pitchFamily="34" charset="0"/>
                <a:ea typeface="Manrope" pitchFamily="34" charset="-122"/>
                <a:cs typeface="Manrope" pitchFamily="34" charset="-120"/>
              </a:rPr>
              <a:t>Video plays here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8F7"/>
        </a:solidFill>
      </p:bgPr>
    </p:bg>
    <p:spTree>
      <p:nvGrpSpPr>
        <p:cNvPr id="1" name=""/>
        <p:cNvGrpSpPr/>
        <p:nvPr/>
      </p:nvGrpSpPr>
      <p:grpSpPr>
        <a:xfrm>
          <a:off x="0" y="0"/>
          <a:ext cx="0" cy="0"/>
          <a:chOff x="0" y="0"/>
          <a:chExt cx="0" cy="0"/>
        </a:xfrm>
      </p:grpSpPr>
      <p:pic>
        <p:nvPicPr>
          <p:cNvPr id="2" name="Image 0" descr="/workspace/slides/voxa-pitch-CTbDK0/assets/voxa-mark.png">    </p:cNvPr>
          <p:cNvPicPr>
            <a:picLocks noChangeAspect="1"/>
          </p:cNvPicPr>
          <p:nvPr/>
        </p:nvPicPr>
        <p:blipFill>
          <a:blip r:embed="rId1"/>
          <a:stretch>
            <a:fillRect/>
          </a:stretch>
        </p:blipFill>
        <p:spPr>
          <a:xfrm>
            <a:off x="548640" y="384048"/>
            <a:ext cx="329184" cy="329184"/>
          </a:xfrm>
          <a:prstGeom prst="rect">
            <a:avLst/>
          </a:prstGeom>
        </p:spPr>
      </p:pic>
      <p:sp>
        <p:nvSpPr>
          <p:cNvPr id="3" name="Text 0"/>
          <p:cNvSpPr/>
          <p:nvPr/>
        </p:nvSpPr>
        <p:spPr>
          <a:xfrm>
            <a:off x="969264" y="365760"/>
            <a:ext cx="1371600" cy="365760"/>
          </a:xfrm>
          <a:prstGeom prst="rect">
            <a:avLst/>
          </a:prstGeom>
          <a:noFill/>
          <a:ln/>
        </p:spPr>
        <p:txBody>
          <a:bodyPr wrap="square" lIns="0" tIns="0" rIns="0" bIns="0" rtlCol="0" anchor="ctr"/>
          <a:lstStyle/>
          <a:p>
            <a:pPr indent="0" marL="0">
              <a:buNone/>
            </a:pPr>
            <a:r>
              <a:rPr lang="en-US" sz="1700" b="1" dirty="0">
                <a:solidFill>
                  <a:srgbClr val="10201C"/>
                </a:solidFill>
                <a:latin typeface="Fraunces" pitchFamily="34" charset="0"/>
                <a:ea typeface="Fraunces" pitchFamily="34" charset="-122"/>
                <a:cs typeface="Fraunces" pitchFamily="34" charset="-120"/>
              </a:rPr>
              <a:t>Voxa</a:t>
            </a:r>
            <a:endParaRPr lang="en-US" sz="1700" dirty="0"/>
          </a:p>
        </p:txBody>
      </p:sp>
      <p:sp>
        <p:nvSpPr>
          <p:cNvPr id="4" name="Text 1"/>
          <p:cNvSpPr/>
          <p:nvPr/>
        </p:nvSpPr>
        <p:spPr>
          <a:xfrm>
            <a:off x="10241280" y="365760"/>
            <a:ext cx="1399032" cy="365760"/>
          </a:xfrm>
          <a:prstGeom prst="rect">
            <a:avLst/>
          </a:prstGeom>
          <a:noFill/>
          <a:ln/>
        </p:spPr>
        <p:txBody>
          <a:bodyPr wrap="square" lIns="0" tIns="0" rIns="0" bIns="0" rtlCol="0" anchor="ctr"/>
          <a:lstStyle/>
          <a:p>
            <a:pPr algn="r" indent="0" marL="0">
              <a:buNone/>
            </a:pPr>
            <a:r>
              <a:rPr lang="en-US" sz="1100" dirty="0">
                <a:solidFill>
                  <a:srgbClr val="6B7C77"/>
                </a:solidFill>
                <a:latin typeface="Manrope" pitchFamily="34" charset="0"/>
                <a:ea typeface="Manrope" pitchFamily="34" charset="-122"/>
                <a:cs typeface="Manrope" pitchFamily="34" charset="-120"/>
              </a:rPr>
              <a:t>08 / 11</a:t>
            </a:r>
            <a:endParaRPr lang="en-US" sz="1100" dirty="0"/>
          </a:p>
        </p:txBody>
      </p:sp>
      <p:sp>
        <p:nvSpPr>
          <p:cNvPr id="5" name="VIDEO_SLOT Demo 4"/>
          <p:cNvSpPr/>
          <p:nvPr/>
        </p:nvSpPr>
        <p:spPr>
          <a:xfrm>
            <a:off x="777240" y="868680"/>
            <a:ext cx="2574036" cy="5577840"/>
          </a:xfrm>
          <a:prstGeom prst="roundRect">
            <a:avLst>
              <a:gd name="adj" fmla="val 14920"/>
            </a:avLst>
          </a:prstGeom>
          <a:solidFill>
            <a:srgbClr val="10201C"/>
          </a:solidFill>
          <a:ln/>
          <a:effectLst>
            <a:outerShdw sx="100000" sy="100000" kx="0" ky="0" algn="bl" rotWithShape="0" blurRad="304800" dist="50800" dir="5400000">
              <a:srgbClr val="0F5A4F">
                <a:alpha val="10000"/>
              </a:srgbClr>
            </a:outerShdw>
          </a:effectLst>
        </p:spPr>
      </p:sp>
      <p:sp>
        <p:nvSpPr>
          <p:cNvPr id="6" name="Shape 3"/>
          <p:cNvSpPr/>
          <p:nvPr/>
        </p:nvSpPr>
        <p:spPr>
          <a:xfrm>
            <a:off x="868680" y="960120"/>
            <a:ext cx="2391156" cy="5394960"/>
          </a:xfrm>
          <a:prstGeom prst="roundRect">
            <a:avLst>
              <a:gd name="adj" fmla="val 13002"/>
            </a:avLst>
          </a:prstGeom>
          <a:solidFill>
            <a:srgbClr val="E3F1EC"/>
          </a:solidFill>
          <a:ln/>
        </p:spPr>
      </p:sp>
      <p:sp>
        <p:nvSpPr>
          <p:cNvPr id="7" name="Shape 4"/>
          <p:cNvSpPr/>
          <p:nvPr/>
        </p:nvSpPr>
        <p:spPr>
          <a:xfrm>
            <a:off x="1652778" y="1051560"/>
            <a:ext cx="822960" cy="201168"/>
          </a:xfrm>
          <a:prstGeom prst="roundRect">
            <a:avLst>
              <a:gd name="adj" fmla="val 50000"/>
            </a:avLst>
          </a:prstGeom>
          <a:solidFill>
            <a:srgbClr val="10201C"/>
          </a:solidFill>
          <a:ln/>
        </p:spPr>
      </p:sp>
      <p:sp>
        <p:nvSpPr>
          <p:cNvPr id="8" name="Shape 5"/>
          <p:cNvSpPr/>
          <p:nvPr/>
        </p:nvSpPr>
        <p:spPr>
          <a:xfrm>
            <a:off x="1652778" y="2971800"/>
            <a:ext cx="822960" cy="822960"/>
          </a:xfrm>
          <a:prstGeom prst="ellipse">
            <a:avLst/>
          </a:prstGeom>
          <a:solidFill>
            <a:srgbClr val="0F5A4F"/>
          </a:solidFill>
          <a:ln/>
        </p:spPr>
      </p:sp>
      <p:sp>
        <p:nvSpPr>
          <p:cNvPr id="9" name="Shape 6"/>
          <p:cNvSpPr/>
          <p:nvPr/>
        </p:nvSpPr>
        <p:spPr>
          <a:xfrm rot="5400000">
            <a:off x="1945386" y="3218688"/>
            <a:ext cx="329184" cy="329184"/>
          </a:xfrm>
          <a:prstGeom prst="triangle">
            <a:avLst/>
          </a:prstGeom>
          <a:solidFill>
            <a:srgbClr val="FFFFFF"/>
          </a:solidFill>
          <a:ln/>
        </p:spPr>
      </p:sp>
      <p:sp>
        <p:nvSpPr>
          <p:cNvPr id="10" name="Text 7"/>
          <p:cNvSpPr/>
          <p:nvPr/>
        </p:nvSpPr>
        <p:spPr>
          <a:xfrm>
            <a:off x="777240" y="3977640"/>
            <a:ext cx="2574036" cy="457200"/>
          </a:xfrm>
          <a:prstGeom prst="rect">
            <a:avLst/>
          </a:prstGeom>
          <a:noFill/>
          <a:ln/>
        </p:spPr>
        <p:txBody>
          <a:bodyPr wrap="square" lIns="0" tIns="0" rIns="0" bIns="0" rtlCol="0" anchor="ctr"/>
          <a:lstStyle/>
          <a:p>
            <a:pPr algn="ctr" indent="0" marL="0">
              <a:buNone/>
            </a:pPr>
            <a:r>
              <a:rPr lang="en-US" sz="2400" b="1" dirty="0">
                <a:solidFill>
                  <a:srgbClr val="0F5A4F"/>
                </a:solidFill>
                <a:latin typeface="Fraunces" pitchFamily="34" charset="0"/>
                <a:ea typeface="Fraunces" pitchFamily="34" charset="-122"/>
                <a:cs typeface="Fraunces" pitchFamily="34" charset="-120"/>
              </a:rPr>
              <a:t>Demo 4</a:t>
            </a:r>
            <a:endParaRPr lang="en-US" sz="2400" dirty="0"/>
          </a:p>
        </p:txBody>
      </p:sp>
      <p:sp>
        <p:nvSpPr>
          <p:cNvPr id="11" name="Text 8"/>
          <p:cNvSpPr/>
          <p:nvPr/>
        </p:nvSpPr>
        <p:spPr>
          <a:xfrm>
            <a:off x="777240" y="4434840"/>
            <a:ext cx="2574036" cy="320040"/>
          </a:xfrm>
          <a:prstGeom prst="rect">
            <a:avLst/>
          </a:prstGeom>
          <a:noFill/>
          <a:ln/>
        </p:spPr>
        <p:txBody>
          <a:bodyPr wrap="square" lIns="0" tIns="0" rIns="0" bIns="0" rtlCol="0" anchor="ctr"/>
          <a:lstStyle/>
          <a:p>
            <a:pPr algn="ctr" indent="0" marL="0">
              <a:buNone/>
            </a:pPr>
            <a:r>
              <a:rPr lang="en-US" sz="1200" dirty="0">
                <a:solidFill>
                  <a:srgbClr val="6B7C77"/>
                </a:solidFill>
                <a:latin typeface="Manrope" pitchFamily="34" charset="0"/>
                <a:ea typeface="Manrope" pitchFamily="34" charset="-122"/>
                <a:cs typeface="Manrope" pitchFamily="34" charset="-120"/>
              </a:rPr>
              <a:t>Video plays here</a:t>
            </a:r>
            <a:endParaRPr lang="en-US" sz="1200" dirty="0"/>
          </a:p>
        </p:txBody>
      </p:sp>
      <p:sp>
        <p:nvSpPr>
          <p:cNvPr id="12" name="Text 9"/>
          <p:cNvSpPr/>
          <p:nvPr/>
        </p:nvSpPr>
        <p:spPr>
          <a:xfrm>
            <a:off x="4206240" y="1188720"/>
            <a:ext cx="4572000" cy="274320"/>
          </a:xfrm>
          <a:prstGeom prst="rect">
            <a:avLst/>
          </a:prstGeom>
          <a:noFill/>
          <a:ln/>
        </p:spPr>
        <p:txBody>
          <a:bodyPr wrap="square" lIns="0" tIns="0" rIns="0" bIns="0" rtlCol="0" anchor="t"/>
          <a:lstStyle/>
          <a:p>
            <a:pPr indent="0" marL="0">
              <a:buNone/>
            </a:pPr>
            <a:r>
              <a:rPr lang="en-US" sz="1200" b="1" spc="250" kern="0" dirty="0">
                <a:solidFill>
                  <a:srgbClr val="1D9A84"/>
                </a:solidFill>
                <a:latin typeface="Manrope" pitchFamily="34" charset="0"/>
                <a:ea typeface="Manrope" pitchFamily="34" charset="-122"/>
                <a:cs typeface="Manrope" pitchFamily="34" charset="-120"/>
              </a:rPr>
              <a:t>MEMORY</a:t>
            </a:r>
            <a:endParaRPr lang="en-US" sz="1200" dirty="0"/>
          </a:p>
        </p:txBody>
      </p:sp>
      <p:sp>
        <p:nvSpPr>
          <p:cNvPr id="13" name="Text 10"/>
          <p:cNvSpPr/>
          <p:nvPr/>
        </p:nvSpPr>
        <p:spPr>
          <a:xfrm>
            <a:off x="4206240" y="1554480"/>
            <a:ext cx="7315200" cy="822960"/>
          </a:xfrm>
          <a:prstGeom prst="rect">
            <a:avLst/>
          </a:prstGeom>
          <a:noFill/>
          <a:ln/>
        </p:spPr>
        <p:txBody>
          <a:bodyPr wrap="square" lIns="0" tIns="0" rIns="0" bIns="0" rtlCol="0" anchor="t"/>
          <a:lstStyle/>
          <a:p>
            <a:pPr indent="0" marL="0">
              <a:buNone/>
            </a:pPr>
            <a:r>
              <a:rPr lang="en-US" sz="4400" b="1" dirty="0">
                <a:solidFill>
                  <a:srgbClr val="10201C"/>
                </a:solidFill>
                <a:latin typeface="Fraunces" pitchFamily="34" charset="0"/>
                <a:ea typeface="Fraunces" pitchFamily="34" charset="-122"/>
                <a:cs typeface="Fraunces" pitchFamily="34" charset="-120"/>
              </a:rPr>
              <a:t>What Voxa remembers.</a:t>
            </a:r>
            <a:endParaRPr lang="en-US" sz="4400" dirty="0"/>
          </a:p>
        </p:txBody>
      </p:sp>
      <p:sp>
        <p:nvSpPr>
          <p:cNvPr id="14" name="Text 11"/>
          <p:cNvSpPr/>
          <p:nvPr/>
        </p:nvSpPr>
        <p:spPr>
          <a:xfrm>
            <a:off x="4206240" y="2423160"/>
            <a:ext cx="7223760" cy="822960"/>
          </a:xfrm>
          <a:prstGeom prst="rect">
            <a:avLst/>
          </a:prstGeom>
          <a:noFill/>
          <a:ln/>
        </p:spPr>
        <p:txBody>
          <a:bodyPr wrap="square" lIns="0" tIns="0" rIns="0" bIns="0" rtlCol="0" anchor="t"/>
          <a:lstStyle/>
          <a:p>
            <a:pPr indent="0" marL="0">
              <a:lnSpc>
                <a:spcPct val="130000"/>
              </a:lnSpc>
              <a:buNone/>
            </a:pPr>
            <a:r>
              <a:rPr lang="en-US" sz="1800" dirty="0">
                <a:solidFill>
                  <a:srgbClr val="3E504B"/>
                </a:solidFill>
                <a:latin typeface="Manrope" pitchFamily="34" charset="0"/>
                <a:ea typeface="Manrope" pitchFamily="34" charset="-122"/>
                <a:cs typeface="Manrope" pitchFamily="34" charset="-120"/>
              </a:rPr>
              <a:t>It learns your preferences, like how you like your captions or when you take showings.</a:t>
            </a:r>
            <a:endParaRPr lang="en-US" sz="1800" dirty="0"/>
          </a:p>
        </p:txBody>
      </p:sp>
      <p:sp>
        <p:nvSpPr>
          <p:cNvPr id="15" name="Shape 12"/>
          <p:cNvSpPr/>
          <p:nvPr/>
        </p:nvSpPr>
        <p:spPr>
          <a:xfrm>
            <a:off x="4206240" y="3429000"/>
            <a:ext cx="2286000" cy="1508760"/>
          </a:xfrm>
          <a:prstGeom prst="roundRect">
            <a:avLst>
              <a:gd name="adj" fmla="val 12121"/>
            </a:avLst>
          </a:prstGeom>
          <a:solidFill>
            <a:srgbClr val="FFFFFF"/>
          </a:solidFill>
          <a:ln w="9525">
            <a:solidFill>
              <a:srgbClr val="DBE6E2"/>
            </a:solidFill>
            <a:prstDash val="solid"/>
          </a:ln>
        </p:spPr>
      </p:sp>
      <p:sp>
        <p:nvSpPr>
          <p:cNvPr id="16" name="Text 13"/>
          <p:cNvSpPr/>
          <p:nvPr/>
        </p:nvSpPr>
        <p:spPr>
          <a:xfrm>
            <a:off x="4480560" y="3611880"/>
            <a:ext cx="1828800" cy="548640"/>
          </a:xfrm>
          <a:prstGeom prst="rect">
            <a:avLst/>
          </a:prstGeom>
          <a:noFill/>
          <a:ln/>
        </p:spPr>
        <p:txBody>
          <a:bodyPr wrap="square" lIns="0" tIns="0" rIns="0" bIns="0" rtlCol="0" anchor="ctr"/>
          <a:lstStyle/>
          <a:p>
            <a:pPr indent="0" marL="0">
              <a:buNone/>
            </a:pPr>
            <a:r>
              <a:rPr lang="en-US" sz="2800" b="1" dirty="0">
                <a:solidFill>
                  <a:srgbClr val="0F5A4F"/>
                </a:solidFill>
                <a:latin typeface="Fraunces" pitchFamily="34" charset="0"/>
                <a:ea typeface="Fraunces" pitchFamily="34" charset="-122"/>
                <a:cs typeface="Fraunces" pitchFamily="34" charset="-120"/>
              </a:rPr>
              <a:t>See</a:t>
            </a:r>
            <a:endParaRPr lang="en-US" sz="2800" dirty="0"/>
          </a:p>
        </p:txBody>
      </p:sp>
      <p:sp>
        <p:nvSpPr>
          <p:cNvPr id="17" name="Text 14"/>
          <p:cNvSpPr/>
          <p:nvPr/>
        </p:nvSpPr>
        <p:spPr>
          <a:xfrm>
            <a:off x="4480560" y="4206240"/>
            <a:ext cx="1828800" cy="640080"/>
          </a:xfrm>
          <a:prstGeom prst="rect">
            <a:avLst/>
          </a:prstGeom>
          <a:noFill/>
          <a:ln/>
        </p:spPr>
        <p:txBody>
          <a:bodyPr wrap="square" lIns="0" tIns="0" rIns="0" bIns="0" rtlCol="0" anchor="t"/>
          <a:lstStyle/>
          <a:p>
            <a:pPr indent="0" marL="0">
              <a:lnSpc>
                <a:spcPct val="130000"/>
              </a:lnSpc>
              <a:buNone/>
            </a:pPr>
            <a:r>
              <a:rPr lang="en-US" sz="1400" dirty="0">
                <a:solidFill>
                  <a:srgbClr val="3E504B"/>
                </a:solidFill>
                <a:latin typeface="Manrope" pitchFamily="34" charset="0"/>
                <a:ea typeface="Manrope" pitchFamily="34" charset="-122"/>
                <a:cs typeface="Manrope" pitchFamily="34" charset="-120"/>
              </a:rPr>
              <a:t>Every preference, in one list.</a:t>
            </a:r>
            <a:endParaRPr lang="en-US" sz="1400" dirty="0"/>
          </a:p>
        </p:txBody>
      </p:sp>
      <p:sp>
        <p:nvSpPr>
          <p:cNvPr id="18" name="Shape 15"/>
          <p:cNvSpPr/>
          <p:nvPr/>
        </p:nvSpPr>
        <p:spPr>
          <a:xfrm>
            <a:off x="6693408" y="3429000"/>
            <a:ext cx="2286000" cy="1508760"/>
          </a:xfrm>
          <a:prstGeom prst="roundRect">
            <a:avLst>
              <a:gd name="adj" fmla="val 12121"/>
            </a:avLst>
          </a:prstGeom>
          <a:solidFill>
            <a:srgbClr val="FFFFFF"/>
          </a:solidFill>
          <a:ln w="9525">
            <a:solidFill>
              <a:srgbClr val="DBE6E2"/>
            </a:solidFill>
            <a:prstDash val="solid"/>
          </a:ln>
        </p:spPr>
      </p:sp>
      <p:sp>
        <p:nvSpPr>
          <p:cNvPr id="19" name="Text 16"/>
          <p:cNvSpPr/>
          <p:nvPr/>
        </p:nvSpPr>
        <p:spPr>
          <a:xfrm>
            <a:off x="6967728" y="3611880"/>
            <a:ext cx="1828800" cy="548640"/>
          </a:xfrm>
          <a:prstGeom prst="rect">
            <a:avLst/>
          </a:prstGeom>
          <a:noFill/>
          <a:ln/>
        </p:spPr>
        <p:txBody>
          <a:bodyPr wrap="square" lIns="0" tIns="0" rIns="0" bIns="0" rtlCol="0" anchor="ctr"/>
          <a:lstStyle/>
          <a:p>
            <a:pPr indent="0" marL="0">
              <a:buNone/>
            </a:pPr>
            <a:r>
              <a:rPr lang="en-US" sz="2800" b="1" dirty="0">
                <a:solidFill>
                  <a:srgbClr val="0F5A4F"/>
                </a:solidFill>
                <a:latin typeface="Fraunces" pitchFamily="34" charset="0"/>
                <a:ea typeface="Fraunces" pitchFamily="34" charset="-122"/>
                <a:cs typeface="Fraunces" pitchFamily="34" charset="-120"/>
              </a:rPr>
              <a:t>Edit</a:t>
            </a:r>
            <a:endParaRPr lang="en-US" sz="2800" dirty="0"/>
          </a:p>
        </p:txBody>
      </p:sp>
      <p:sp>
        <p:nvSpPr>
          <p:cNvPr id="20" name="Text 17"/>
          <p:cNvSpPr/>
          <p:nvPr/>
        </p:nvSpPr>
        <p:spPr>
          <a:xfrm>
            <a:off x="6967728" y="4206240"/>
            <a:ext cx="1828800" cy="640080"/>
          </a:xfrm>
          <a:prstGeom prst="rect">
            <a:avLst/>
          </a:prstGeom>
          <a:noFill/>
          <a:ln/>
        </p:spPr>
        <p:txBody>
          <a:bodyPr wrap="square" lIns="0" tIns="0" rIns="0" bIns="0" rtlCol="0" anchor="t"/>
          <a:lstStyle/>
          <a:p>
            <a:pPr indent="0" marL="0">
              <a:lnSpc>
                <a:spcPct val="130000"/>
              </a:lnSpc>
              <a:buNone/>
            </a:pPr>
            <a:r>
              <a:rPr lang="en-US" sz="1400" dirty="0">
                <a:solidFill>
                  <a:srgbClr val="3E504B"/>
                </a:solidFill>
                <a:latin typeface="Manrope" pitchFamily="34" charset="0"/>
                <a:ea typeface="Manrope" pitchFamily="34" charset="-122"/>
                <a:cs typeface="Manrope" pitchFamily="34" charset="-120"/>
              </a:rPr>
              <a:t>Change any of them.</a:t>
            </a:r>
            <a:endParaRPr lang="en-US" sz="1400" dirty="0"/>
          </a:p>
        </p:txBody>
      </p:sp>
      <p:sp>
        <p:nvSpPr>
          <p:cNvPr id="21" name="Shape 18"/>
          <p:cNvSpPr/>
          <p:nvPr/>
        </p:nvSpPr>
        <p:spPr>
          <a:xfrm>
            <a:off x="9180576" y="3429000"/>
            <a:ext cx="2286000" cy="1508760"/>
          </a:xfrm>
          <a:prstGeom prst="roundRect">
            <a:avLst>
              <a:gd name="adj" fmla="val 12121"/>
            </a:avLst>
          </a:prstGeom>
          <a:solidFill>
            <a:srgbClr val="FFFFFF"/>
          </a:solidFill>
          <a:ln w="9525">
            <a:solidFill>
              <a:srgbClr val="DBE6E2"/>
            </a:solidFill>
            <a:prstDash val="solid"/>
          </a:ln>
        </p:spPr>
      </p:sp>
      <p:sp>
        <p:nvSpPr>
          <p:cNvPr id="22" name="Text 19"/>
          <p:cNvSpPr/>
          <p:nvPr/>
        </p:nvSpPr>
        <p:spPr>
          <a:xfrm>
            <a:off x="9454896" y="3611880"/>
            <a:ext cx="1828800" cy="548640"/>
          </a:xfrm>
          <a:prstGeom prst="rect">
            <a:avLst/>
          </a:prstGeom>
          <a:noFill/>
          <a:ln/>
        </p:spPr>
        <p:txBody>
          <a:bodyPr wrap="square" lIns="0" tIns="0" rIns="0" bIns="0" rtlCol="0" anchor="ctr"/>
          <a:lstStyle/>
          <a:p>
            <a:pPr indent="0" marL="0">
              <a:buNone/>
            </a:pPr>
            <a:r>
              <a:rPr lang="en-US" sz="2800" b="1" dirty="0">
                <a:solidFill>
                  <a:srgbClr val="0F5A4F"/>
                </a:solidFill>
                <a:latin typeface="Fraunces" pitchFamily="34" charset="0"/>
                <a:ea typeface="Fraunces" pitchFamily="34" charset="-122"/>
                <a:cs typeface="Fraunces" pitchFamily="34" charset="-120"/>
              </a:rPr>
              <a:t>Forget</a:t>
            </a:r>
            <a:endParaRPr lang="en-US" sz="2800" dirty="0"/>
          </a:p>
        </p:txBody>
      </p:sp>
      <p:sp>
        <p:nvSpPr>
          <p:cNvPr id="23" name="Text 20"/>
          <p:cNvSpPr/>
          <p:nvPr/>
        </p:nvSpPr>
        <p:spPr>
          <a:xfrm>
            <a:off x="9454896" y="4206240"/>
            <a:ext cx="1828800" cy="640080"/>
          </a:xfrm>
          <a:prstGeom prst="rect">
            <a:avLst/>
          </a:prstGeom>
          <a:noFill/>
          <a:ln/>
        </p:spPr>
        <p:txBody>
          <a:bodyPr wrap="square" lIns="0" tIns="0" rIns="0" bIns="0" rtlCol="0" anchor="t"/>
          <a:lstStyle/>
          <a:p>
            <a:pPr indent="0" marL="0">
              <a:lnSpc>
                <a:spcPct val="130000"/>
              </a:lnSpc>
              <a:buNone/>
            </a:pPr>
            <a:r>
              <a:rPr lang="en-US" sz="1400" dirty="0">
                <a:solidFill>
                  <a:srgbClr val="3E504B"/>
                </a:solidFill>
                <a:latin typeface="Manrope" pitchFamily="34" charset="0"/>
                <a:ea typeface="Manrope" pitchFamily="34" charset="-122"/>
                <a:cs typeface="Manrope" pitchFamily="34" charset="-120"/>
              </a:rPr>
              <a:t>Remove one, or all.</a:t>
            </a:r>
            <a:endParaRPr lang="en-US" sz="1400" dirty="0"/>
          </a:p>
        </p:txBody>
      </p:sp>
      <p:sp>
        <p:nvSpPr>
          <p:cNvPr id="24" name="Shape 21"/>
          <p:cNvSpPr/>
          <p:nvPr/>
        </p:nvSpPr>
        <p:spPr>
          <a:xfrm>
            <a:off x="4206240" y="5212080"/>
            <a:ext cx="7269480" cy="868680"/>
          </a:xfrm>
          <a:prstGeom prst="roundRect">
            <a:avLst>
              <a:gd name="adj" fmla="val 26316"/>
            </a:avLst>
          </a:prstGeom>
          <a:solidFill>
            <a:srgbClr val="0F5A4F"/>
          </a:solidFill>
          <a:ln/>
        </p:spPr>
      </p:sp>
      <p:sp>
        <p:nvSpPr>
          <p:cNvPr id="25" name="Text 22"/>
          <p:cNvSpPr/>
          <p:nvPr/>
        </p:nvSpPr>
        <p:spPr>
          <a:xfrm>
            <a:off x="4572000" y="5212080"/>
            <a:ext cx="6675120" cy="868680"/>
          </a:xfrm>
          <a:prstGeom prst="rect">
            <a:avLst/>
          </a:prstGeom>
          <a:noFill/>
          <a:ln/>
        </p:spPr>
        <p:txBody>
          <a:bodyPr wrap="square" lIns="0" tIns="0" rIns="0" bIns="0" rtlCol="0" anchor="ctr"/>
          <a:lstStyle/>
          <a:p>
            <a:pPr indent="0" marL="0">
              <a:buNone/>
            </a:pPr>
            <a:r>
              <a:rPr lang="en-US" sz="1800" b="1" dirty="0">
                <a:solidFill>
                  <a:srgbClr val="FFFFFF"/>
                </a:solidFill>
                <a:latin typeface="Manrope" pitchFamily="34" charset="0"/>
                <a:ea typeface="Manrope" pitchFamily="34" charset="-122"/>
                <a:cs typeface="Manrope" pitchFamily="34" charset="-120"/>
              </a:rPr>
              <a:t>Memory storage is off by default.  </a:t>
            </a:r>
            <a:pPr indent="0" marL="0">
              <a:buNone/>
            </a:pPr>
            <a:r>
              <a:rPr lang="en-US" sz="1800" dirty="0">
                <a:solidFill>
                  <a:srgbClr val="CFE8E0"/>
                </a:solidFill>
                <a:latin typeface="Manrope" pitchFamily="34" charset="0"/>
                <a:ea typeface="Manrope" pitchFamily="34" charset="-122"/>
                <a:cs typeface="Manrope" pitchFamily="34" charset="-120"/>
              </a:rPr>
              <a:t>You turn it on.</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workspace/slides/voxa-pitch-CTbDK0/assets/voxa-mark.png">    </p:cNvPr>
          <p:cNvPicPr>
            <a:picLocks noChangeAspect="1"/>
          </p:cNvPicPr>
          <p:nvPr/>
        </p:nvPicPr>
        <p:blipFill>
          <a:blip r:embed="rId1"/>
          <a:stretch>
            <a:fillRect/>
          </a:stretch>
        </p:blipFill>
        <p:spPr>
          <a:xfrm>
            <a:off x="548640" y="384048"/>
            <a:ext cx="329184" cy="329184"/>
          </a:xfrm>
          <a:prstGeom prst="rect">
            <a:avLst/>
          </a:prstGeom>
        </p:spPr>
      </p:pic>
      <p:sp>
        <p:nvSpPr>
          <p:cNvPr id="3" name="Text 0"/>
          <p:cNvSpPr/>
          <p:nvPr/>
        </p:nvSpPr>
        <p:spPr>
          <a:xfrm>
            <a:off x="969264" y="365760"/>
            <a:ext cx="1371600" cy="365760"/>
          </a:xfrm>
          <a:prstGeom prst="rect">
            <a:avLst/>
          </a:prstGeom>
          <a:noFill/>
          <a:ln/>
        </p:spPr>
        <p:txBody>
          <a:bodyPr wrap="square" lIns="0" tIns="0" rIns="0" bIns="0" rtlCol="0" anchor="ctr"/>
          <a:lstStyle/>
          <a:p>
            <a:pPr indent="0" marL="0">
              <a:buNone/>
            </a:pPr>
            <a:r>
              <a:rPr lang="en-US" sz="1700" b="1" dirty="0">
                <a:solidFill>
                  <a:srgbClr val="10201C"/>
                </a:solidFill>
                <a:latin typeface="Fraunces" pitchFamily="34" charset="0"/>
                <a:ea typeface="Fraunces" pitchFamily="34" charset="-122"/>
                <a:cs typeface="Fraunces" pitchFamily="34" charset="-120"/>
              </a:rPr>
              <a:t>Voxa</a:t>
            </a:r>
            <a:endParaRPr lang="en-US" sz="1700" dirty="0"/>
          </a:p>
        </p:txBody>
      </p:sp>
      <p:sp>
        <p:nvSpPr>
          <p:cNvPr id="4" name="Text 1"/>
          <p:cNvSpPr/>
          <p:nvPr/>
        </p:nvSpPr>
        <p:spPr>
          <a:xfrm>
            <a:off x="10241280" y="365760"/>
            <a:ext cx="1399032" cy="365760"/>
          </a:xfrm>
          <a:prstGeom prst="rect">
            <a:avLst/>
          </a:prstGeom>
          <a:noFill/>
          <a:ln/>
        </p:spPr>
        <p:txBody>
          <a:bodyPr wrap="square" lIns="0" tIns="0" rIns="0" bIns="0" rtlCol="0" anchor="ctr"/>
          <a:lstStyle/>
          <a:p>
            <a:pPr algn="r" indent="0" marL="0">
              <a:buNone/>
            </a:pPr>
            <a:r>
              <a:rPr lang="en-US" sz="1100" dirty="0">
                <a:solidFill>
                  <a:srgbClr val="6B7C77"/>
                </a:solidFill>
                <a:latin typeface="Manrope" pitchFamily="34" charset="0"/>
                <a:ea typeface="Manrope" pitchFamily="34" charset="-122"/>
                <a:cs typeface="Manrope" pitchFamily="34" charset="-120"/>
              </a:rPr>
              <a:t>09 / 11</a:t>
            </a:r>
            <a:endParaRPr lang="en-US" sz="1100" dirty="0"/>
          </a:p>
        </p:txBody>
      </p:sp>
      <p:sp>
        <p:nvSpPr>
          <p:cNvPr id="5" name="Shape 2"/>
          <p:cNvSpPr/>
          <p:nvPr/>
        </p:nvSpPr>
        <p:spPr>
          <a:xfrm>
            <a:off x="685800" y="1143000"/>
            <a:ext cx="2514600" cy="384048"/>
          </a:xfrm>
          <a:prstGeom prst="roundRect">
            <a:avLst>
              <a:gd name="adj" fmla="val 50000"/>
            </a:avLst>
          </a:prstGeom>
          <a:solidFill>
            <a:srgbClr val="FFF3D6"/>
          </a:solidFill>
          <a:ln w="12700">
            <a:solidFill>
              <a:srgbClr val="C9A227"/>
            </a:solidFill>
            <a:prstDash val="solid"/>
          </a:ln>
        </p:spPr>
      </p:sp>
      <p:sp>
        <p:nvSpPr>
          <p:cNvPr id="6" name="Text 3"/>
          <p:cNvSpPr/>
          <p:nvPr/>
        </p:nvSpPr>
        <p:spPr>
          <a:xfrm>
            <a:off x="685800" y="1143000"/>
            <a:ext cx="2514600" cy="384048"/>
          </a:xfrm>
          <a:prstGeom prst="rect">
            <a:avLst/>
          </a:prstGeom>
          <a:noFill/>
          <a:ln/>
        </p:spPr>
        <p:txBody>
          <a:bodyPr wrap="square" lIns="0" tIns="0" rIns="0" bIns="0" rtlCol="0" anchor="ctr"/>
          <a:lstStyle/>
          <a:p>
            <a:pPr algn="ctr" indent="0" marL="0">
              <a:buNone/>
            </a:pPr>
            <a:r>
              <a:rPr lang="en-US" sz="1200" b="1" spc="200" kern="0" dirty="0">
                <a:solidFill>
                  <a:srgbClr val="7A5B00"/>
                </a:solidFill>
                <a:latin typeface="Manrope" pitchFamily="34" charset="0"/>
                <a:ea typeface="Manrope" pitchFamily="34" charset="-122"/>
                <a:cs typeface="Manrope" pitchFamily="34" charset="-120"/>
              </a:rPr>
              <a:t>DESIGN PREVIEW</a:t>
            </a:r>
            <a:endParaRPr lang="en-US" sz="1200" dirty="0"/>
          </a:p>
        </p:txBody>
      </p:sp>
      <p:sp>
        <p:nvSpPr>
          <p:cNvPr id="7" name="Text 4"/>
          <p:cNvSpPr/>
          <p:nvPr/>
        </p:nvSpPr>
        <p:spPr>
          <a:xfrm>
            <a:off x="685800" y="1737360"/>
            <a:ext cx="3566160" cy="822960"/>
          </a:xfrm>
          <a:prstGeom prst="rect">
            <a:avLst/>
          </a:prstGeom>
          <a:noFill/>
          <a:ln/>
        </p:spPr>
        <p:txBody>
          <a:bodyPr wrap="square" lIns="0" tIns="0" rIns="0" bIns="0" rtlCol="0" anchor="t"/>
          <a:lstStyle/>
          <a:p>
            <a:pPr indent="0" marL="0">
              <a:buNone/>
            </a:pPr>
            <a:r>
              <a:rPr lang="en-US" sz="4000" b="1" dirty="0">
                <a:solidFill>
                  <a:srgbClr val="10201C"/>
                </a:solidFill>
                <a:latin typeface="Fraunces" pitchFamily="34" charset="0"/>
                <a:ea typeface="Fraunces" pitchFamily="34" charset="-122"/>
                <a:cs typeface="Fraunces" pitchFamily="34" charset="-120"/>
              </a:rPr>
              <a:t>Coming next.</a:t>
            </a:r>
            <a:endParaRPr lang="en-US" sz="4000" dirty="0"/>
          </a:p>
        </p:txBody>
      </p:sp>
      <p:sp>
        <p:nvSpPr>
          <p:cNvPr id="8" name="Text 5"/>
          <p:cNvSpPr/>
          <p:nvPr/>
        </p:nvSpPr>
        <p:spPr>
          <a:xfrm>
            <a:off x="685800" y="2651760"/>
            <a:ext cx="3474720" cy="822960"/>
          </a:xfrm>
          <a:prstGeom prst="rect">
            <a:avLst/>
          </a:prstGeom>
          <a:noFill/>
          <a:ln/>
        </p:spPr>
        <p:txBody>
          <a:bodyPr wrap="square" lIns="0" tIns="0" rIns="0" bIns="0" rtlCol="0" anchor="t"/>
          <a:lstStyle/>
          <a:p>
            <a:pPr indent="0" marL="0">
              <a:lnSpc>
                <a:spcPct val="130000"/>
              </a:lnSpc>
              <a:buNone/>
            </a:pPr>
            <a:r>
              <a:rPr lang="en-US" sz="1500" dirty="0">
                <a:solidFill>
                  <a:srgbClr val="6B7C77"/>
                </a:solidFill>
                <a:latin typeface="Manrope" pitchFamily="34" charset="0"/>
                <a:ea typeface="Manrope" pitchFamily="34" charset="-122"/>
                <a:cs typeface="Manrope" pitchFamily="34" charset="-120"/>
              </a:rPr>
              <a:t>Not shipped yet. These are prototype screens with example data.</a:t>
            </a:r>
            <a:endParaRPr lang="en-US" sz="1500" dirty="0"/>
          </a:p>
        </p:txBody>
      </p:sp>
      <p:sp>
        <p:nvSpPr>
          <p:cNvPr id="9" name="Shape 6"/>
          <p:cNvSpPr/>
          <p:nvPr/>
        </p:nvSpPr>
        <p:spPr>
          <a:xfrm>
            <a:off x="713232" y="3767328"/>
            <a:ext cx="146304" cy="146304"/>
          </a:xfrm>
          <a:prstGeom prst="ellipse">
            <a:avLst/>
          </a:prstGeom>
          <a:solidFill>
            <a:srgbClr val="1D9A84"/>
          </a:solidFill>
          <a:ln/>
        </p:spPr>
      </p:sp>
      <p:sp>
        <p:nvSpPr>
          <p:cNvPr id="10" name="Text 7"/>
          <p:cNvSpPr/>
          <p:nvPr/>
        </p:nvSpPr>
        <p:spPr>
          <a:xfrm>
            <a:off x="1005840" y="3657600"/>
            <a:ext cx="3291840" cy="731520"/>
          </a:xfrm>
          <a:prstGeom prst="rect">
            <a:avLst/>
          </a:prstGeom>
          <a:noFill/>
          <a:ln/>
        </p:spPr>
        <p:txBody>
          <a:bodyPr wrap="square" lIns="0" tIns="0" rIns="0" bIns="0" rtlCol="0" anchor="t"/>
          <a:lstStyle/>
          <a:p>
            <a:pPr indent="0" marL="0">
              <a:buNone/>
            </a:pPr>
            <a:r>
              <a:rPr lang="en-US" sz="1600" b="1" dirty="0">
                <a:solidFill>
                  <a:srgbClr val="10201C"/>
                </a:solidFill>
                <a:latin typeface="Manrope" pitchFamily="34" charset="0"/>
                <a:ea typeface="Manrope" pitchFamily="34" charset="-122"/>
                <a:cs typeface="Manrope" pitchFamily="34" charset="-120"/>
              </a:rPr>
              <a:t>Home</a:t>
            </a:r>
            <a:endParaRPr lang="en-US" sz="1600" dirty="0"/>
          </a:p>
          <a:p>
            <a:pPr indent="0" marL="0">
              <a:buNone/>
            </a:pPr>
            <a:r>
              <a:rPr lang="en-US" sz="1400" dirty="0">
                <a:solidFill>
                  <a:srgbClr val="3E504B"/>
                </a:solidFill>
                <a:latin typeface="Manrope" pitchFamily="34" charset="0"/>
                <a:ea typeface="Manrope" pitchFamily="34" charset="-122"/>
                <a:cs typeface="Manrope" pitchFamily="34" charset="-120"/>
              </a:rPr>
              <a:t>Everything that needs you today.</a:t>
            </a:r>
            <a:endParaRPr lang="en-US" sz="1600" dirty="0"/>
          </a:p>
        </p:txBody>
      </p:sp>
      <p:sp>
        <p:nvSpPr>
          <p:cNvPr id="11" name="Shape 8"/>
          <p:cNvSpPr/>
          <p:nvPr/>
        </p:nvSpPr>
        <p:spPr>
          <a:xfrm>
            <a:off x="713232" y="4590288"/>
            <a:ext cx="146304" cy="146304"/>
          </a:xfrm>
          <a:prstGeom prst="ellipse">
            <a:avLst/>
          </a:prstGeom>
          <a:solidFill>
            <a:srgbClr val="1D9A84"/>
          </a:solidFill>
          <a:ln/>
        </p:spPr>
      </p:sp>
      <p:sp>
        <p:nvSpPr>
          <p:cNvPr id="12" name="Text 9"/>
          <p:cNvSpPr/>
          <p:nvPr/>
        </p:nvSpPr>
        <p:spPr>
          <a:xfrm>
            <a:off x="1005840" y="4480560"/>
            <a:ext cx="3291840" cy="731520"/>
          </a:xfrm>
          <a:prstGeom prst="rect">
            <a:avLst/>
          </a:prstGeom>
          <a:noFill/>
          <a:ln/>
        </p:spPr>
        <p:txBody>
          <a:bodyPr wrap="square" lIns="0" tIns="0" rIns="0" bIns="0" rtlCol="0" anchor="t"/>
          <a:lstStyle/>
          <a:p>
            <a:pPr indent="0" marL="0">
              <a:buNone/>
            </a:pPr>
            <a:r>
              <a:rPr lang="en-US" sz="1600" b="1" dirty="0">
                <a:solidFill>
                  <a:srgbClr val="10201C"/>
                </a:solidFill>
                <a:latin typeface="Manrope" pitchFamily="34" charset="0"/>
                <a:ea typeface="Manrope" pitchFamily="34" charset="-122"/>
                <a:cs typeface="Manrope" pitchFamily="34" charset="-120"/>
              </a:rPr>
              <a:t>Open house</a:t>
            </a:r>
            <a:endParaRPr lang="en-US" sz="1600" dirty="0"/>
          </a:p>
          <a:p>
            <a:pPr indent="0" marL="0">
              <a:buNone/>
            </a:pPr>
            <a:r>
              <a:rPr lang="en-US" sz="1400" dirty="0">
                <a:solidFill>
                  <a:srgbClr val="3E504B"/>
                </a:solidFill>
                <a:latin typeface="Manrope" pitchFamily="34" charset="0"/>
                <a:ea typeface="Manrope" pitchFamily="34" charset="-122"/>
                <a:cs typeface="Manrope" pitchFamily="34" charset="-120"/>
              </a:rPr>
              <a:t>Prep and follow-up, on time.</a:t>
            </a:r>
            <a:endParaRPr lang="en-US" sz="1600" dirty="0"/>
          </a:p>
        </p:txBody>
      </p:sp>
      <p:sp>
        <p:nvSpPr>
          <p:cNvPr id="13" name="Shape 10"/>
          <p:cNvSpPr/>
          <p:nvPr/>
        </p:nvSpPr>
        <p:spPr>
          <a:xfrm>
            <a:off x="713232" y="5413248"/>
            <a:ext cx="146304" cy="146304"/>
          </a:xfrm>
          <a:prstGeom prst="ellipse">
            <a:avLst/>
          </a:prstGeom>
          <a:solidFill>
            <a:srgbClr val="1D9A84"/>
          </a:solidFill>
          <a:ln/>
        </p:spPr>
      </p:sp>
      <p:sp>
        <p:nvSpPr>
          <p:cNvPr id="14" name="Text 11"/>
          <p:cNvSpPr/>
          <p:nvPr/>
        </p:nvSpPr>
        <p:spPr>
          <a:xfrm>
            <a:off x="1005840" y="5303520"/>
            <a:ext cx="3291840" cy="731520"/>
          </a:xfrm>
          <a:prstGeom prst="rect">
            <a:avLst/>
          </a:prstGeom>
          <a:noFill/>
          <a:ln/>
        </p:spPr>
        <p:txBody>
          <a:bodyPr wrap="square" lIns="0" tIns="0" rIns="0" bIns="0" rtlCol="0" anchor="t"/>
          <a:lstStyle/>
          <a:p>
            <a:pPr indent="0" marL="0">
              <a:buNone/>
            </a:pPr>
            <a:r>
              <a:rPr lang="en-US" sz="1600" b="1" dirty="0">
                <a:solidFill>
                  <a:srgbClr val="10201C"/>
                </a:solidFill>
                <a:latin typeface="Manrope" pitchFamily="34" charset="0"/>
                <a:ea typeface="Manrope" pitchFamily="34" charset="-122"/>
                <a:cs typeface="Manrope" pitchFamily="34" charset="-120"/>
              </a:rPr>
              <a:t>Showings</a:t>
            </a:r>
            <a:endParaRPr lang="en-US" sz="1600" dirty="0"/>
          </a:p>
          <a:p>
            <a:pPr indent="0" marL="0">
              <a:buNone/>
            </a:pPr>
            <a:r>
              <a:rPr lang="en-US" sz="1400" dirty="0">
                <a:solidFill>
                  <a:srgbClr val="3E504B"/>
                </a:solidFill>
                <a:latin typeface="Manrope" pitchFamily="34" charset="0"/>
                <a:ea typeface="Manrope" pitchFamily="34" charset="-122"/>
                <a:cs typeface="Manrope" pitchFamily="34" charset="-120"/>
              </a:rPr>
              <a:t>Check it off, with Undo.</a:t>
            </a:r>
            <a:endParaRPr lang="en-US" sz="1600" dirty="0"/>
          </a:p>
        </p:txBody>
      </p:sp>
      <p:pic>
        <p:nvPicPr>
          <p:cNvPr id="15" name="Image 1" descr="/workspace/slides/voxa-pitch-CTbDK0/assets/ph-home.png">    </p:cNvPr>
          <p:cNvPicPr>
            <a:picLocks noChangeAspect="1"/>
          </p:cNvPicPr>
          <p:nvPr/>
        </p:nvPicPr>
        <p:blipFill>
          <a:blip r:embed="rId2"/>
          <a:stretch>
            <a:fillRect/>
          </a:stretch>
        </p:blipFill>
        <p:spPr>
          <a:xfrm>
            <a:off x="4251960" y="1005840"/>
            <a:ext cx="2487168" cy="4626864"/>
          </a:xfrm>
          <a:prstGeom prst="rect">
            <a:avLst/>
          </a:prstGeom>
        </p:spPr>
      </p:pic>
      <p:sp>
        <p:nvSpPr>
          <p:cNvPr id="16" name="Text 12"/>
          <p:cNvSpPr/>
          <p:nvPr/>
        </p:nvSpPr>
        <p:spPr>
          <a:xfrm>
            <a:off x="4251960" y="5806440"/>
            <a:ext cx="2487168" cy="320040"/>
          </a:xfrm>
          <a:prstGeom prst="rect">
            <a:avLst/>
          </a:prstGeom>
          <a:noFill/>
          <a:ln/>
        </p:spPr>
        <p:txBody>
          <a:bodyPr wrap="square" lIns="0" tIns="0" rIns="0" bIns="0" rtlCol="0" anchor="ctr"/>
          <a:lstStyle/>
          <a:p>
            <a:pPr algn="ctr" indent="0" marL="0">
              <a:buNone/>
            </a:pPr>
            <a:r>
              <a:rPr lang="en-US" sz="1300" b="1" dirty="0">
                <a:solidFill>
                  <a:srgbClr val="6B7C77"/>
                </a:solidFill>
                <a:latin typeface="Manrope" pitchFamily="34" charset="0"/>
                <a:ea typeface="Manrope" pitchFamily="34" charset="-122"/>
                <a:cs typeface="Manrope" pitchFamily="34" charset="-120"/>
              </a:rPr>
              <a:t>Home  ·  Design preview</a:t>
            </a:r>
            <a:endParaRPr lang="en-US" sz="1300" dirty="0"/>
          </a:p>
        </p:txBody>
      </p:sp>
      <p:pic>
        <p:nvPicPr>
          <p:cNvPr id="17" name="Image 2" descr="/workspace/slides/voxa-pitch-CTbDK0/assets/ph-openhouse.png">    </p:cNvPr>
          <p:cNvPicPr>
            <a:picLocks noChangeAspect="1"/>
          </p:cNvPicPr>
          <p:nvPr/>
        </p:nvPicPr>
        <p:blipFill>
          <a:blip r:embed="rId3"/>
          <a:stretch>
            <a:fillRect/>
          </a:stretch>
        </p:blipFill>
        <p:spPr>
          <a:xfrm>
            <a:off x="6720840" y="1005840"/>
            <a:ext cx="2487168" cy="4626864"/>
          </a:xfrm>
          <a:prstGeom prst="rect">
            <a:avLst/>
          </a:prstGeom>
        </p:spPr>
      </p:pic>
      <p:sp>
        <p:nvSpPr>
          <p:cNvPr id="18" name="Text 13"/>
          <p:cNvSpPr/>
          <p:nvPr/>
        </p:nvSpPr>
        <p:spPr>
          <a:xfrm>
            <a:off x="6720840" y="5806440"/>
            <a:ext cx="2487168" cy="320040"/>
          </a:xfrm>
          <a:prstGeom prst="rect">
            <a:avLst/>
          </a:prstGeom>
          <a:noFill/>
          <a:ln/>
        </p:spPr>
        <p:txBody>
          <a:bodyPr wrap="square" lIns="0" tIns="0" rIns="0" bIns="0" rtlCol="0" anchor="ctr"/>
          <a:lstStyle/>
          <a:p>
            <a:pPr algn="ctr" indent="0" marL="0">
              <a:buNone/>
            </a:pPr>
            <a:r>
              <a:rPr lang="en-US" sz="1300" b="1" dirty="0">
                <a:solidFill>
                  <a:srgbClr val="6B7C77"/>
                </a:solidFill>
                <a:latin typeface="Manrope" pitchFamily="34" charset="0"/>
                <a:ea typeface="Manrope" pitchFamily="34" charset="-122"/>
                <a:cs typeface="Manrope" pitchFamily="34" charset="-120"/>
              </a:rPr>
              <a:t>Open house  ·  Design preview</a:t>
            </a:r>
            <a:endParaRPr lang="en-US" sz="1300" dirty="0"/>
          </a:p>
        </p:txBody>
      </p:sp>
      <p:pic>
        <p:nvPicPr>
          <p:cNvPr id="19" name="Image 3" descr="/workspace/slides/voxa-pitch-CTbDK0/assets/ph-showings.png">    </p:cNvPr>
          <p:cNvPicPr>
            <a:picLocks noChangeAspect="1"/>
          </p:cNvPicPr>
          <p:nvPr/>
        </p:nvPicPr>
        <p:blipFill>
          <a:blip r:embed="rId4"/>
          <a:stretch>
            <a:fillRect/>
          </a:stretch>
        </p:blipFill>
        <p:spPr>
          <a:xfrm>
            <a:off x="9189720" y="1005840"/>
            <a:ext cx="2487168" cy="4626864"/>
          </a:xfrm>
          <a:prstGeom prst="rect">
            <a:avLst/>
          </a:prstGeom>
        </p:spPr>
      </p:pic>
      <p:sp>
        <p:nvSpPr>
          <p:cNvPr id="20" name="Text 14"/>
          <p:cNvSpPr/>
          <p:nvPr/>
        </p:nvSpPr>
        <p:spPr>
          <a:xfrm>
            <a:off x="9189720" y="5806440"/>
            <a:ext cx="2487168" cy="320040"/>
          </a:xfrm>
          <a:prstGeom prst="rect">
            <a:avLst/>
          </a:prstGeom>
          <a:noFill/>
          <a:ln/>
        </p:spPr>
        <p:txBody>
          <a:bodyPr wrap="square" lIns="0" tIns="0" rIns="0" bIns="0" rtlCol="0" anchor="ctr"/>
          <a:lstStyle/>
          <a:p>
            <a:pPr algn="ctr" indent="0" marL="0">
              <a:buNone/>
            </a:pPr>
            <a:r>
              <a:rPr lang="en-US" sz="1300" b="1" dirty="0">
                <a:solidFill>
                  <a:srgbClr val="6B7C77"/>
                </a:solidFill>
                <a:latin typeface="Manrope" pitchFamily="34" charset="0"/>
                <a:ea typeface="Manrope" pitchFamily="34" charset="-122"/>
                <a:cs typeface="Manrope" pitchFamily="34" charset="-120"/>
              </a:rPr>
              <a:t>Showings  ·  Design preview</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8F7"/>
        </a:solidFill>
      </p:bgPr>
    </p:bg>
    <p:spTree>
      <p:nvGrpSpPr>
        <p:cNvPr id="1" name=""/>
        <p:cNvGrpSpPr/>
        <p:nvPr/>
      </p:nvGrpSpPr>
      <p:grpSpPr>
        <a:xfrm>
          <a:off x="0" y="0"/>
          <a:ext cx="0" cy="0"/>
          <a:chOff x="0" y="0"/>
          <a:chExt cx="0" cy="0"/>
        </a:xfrm>
      </p:grpSpPr>
      <p:pic>
        <p:nvPicPr>
          <p:cNvPr id="2" name="Image 0" descr="/workspace/slides/voxa-pitch-CTbDK0/assets/voxa-mark.png">    </p:cNvPr>
          <p:cNvPicPr>
            <a:picLocks noChangeAspect="1"/>
          </p:cNvPicPr>
          <p:nvPr/>
        </p:nvPicPr>
        <p:blipFill>
          <a:blip r:embed="rId1"/>
          <a:stretch>
            <a:fillRect/>
          </a:stretch>
        </p:blipFill>
        <p:spPr>
          <a:xfrm>
            <a:off x="548640" y="384048"/>
            <a:ext cx="329184" cy="329184"/>
          </a:xfrm>
          <a:prstGeom prst="rect">
            <a:avLst/>
          </a:prstGeom>
        </p:spPr>
      </p:pic>
      <p:sp>
        <p:nvSpPr>
          <p:cNvPr id="3" name="Text 0"/>
          <p:cNvSpPr/>
          <p:nvPr/>
        </p:nvSpPr>
        <p:spPr>
          <a:xfrm>
            <a:off x="969264" y="365760"/>
            <a:ext cx="1371600" cy="365760"/>
          </a:xfrm>
          <a:prstGeom prst="rect">
            <a:avLst/>
          </a:prstGeom>
          <a:noFill/>
          <a:ln/>
        </p:spPr>
        <p:txBody>
          <a:bodyPr wrap="square" lIns="0" tIns="0" rIns="0" bIns="0" rtlCol="0" anchor="ctr"/>
          <a:lstStyle/>
          <a:p>
            <a:pPr indent="0" marL="0">
              <a:buNone/>
            </a:pPr>
            <a:r>
              <a:rPr lang="en-US" sz="1700" b="1" dirty="0">
                <a:solidFill>
                  <a:srgbClr val="10201C"/>
                </a:solidFill>
                <a:latin typeface="Fraunces" pitchFamily="34" charset="0"/>
                <a:ea typeface="Fraunces" pitchFamily="34" charset="-122"/>
                <a:cs typeface="Fraunces" pitchFamily="34" charset="-120"/>
              </a:rPr>
              <a:t>Voxa</a:t>
            </a:r>
            <a:endParaRPr lang="en-US" sz="1700" dirty="0"/>
          </a:p>
        </p:txBody>
      </p:sp>
      <p:sp>
        <p:nvSpPr>
          <p:cNvPr id="4" name="Text 1"/>
          <p:cNvSpPr/>
          <p:nvPr/>
        </p:nvSpPr>
        <p:spPr>
          <a:xfrm>
            <a:off x="10241280" y="365760"/>
            <a:ext cx="1399032" cy="365760"/>
          </a:xfrm>
          <a:prstGeom prst="rect">
            <a:avLst/>
          </a:prstGeom>
          <a:noFill/>
          <a:ln/>
        </p:spPr>
        <p:txBody>
          <a:bodyPr wrap="square" lIns="0" tIns="0" rIns="0" bIns="0" rtlCol="0" anchor="ctr"/>
          <a:lstStyle/>
          <a:p>
            <a:pPr algn="r" indent="0" marL="0">
              <a:buNone/>
            </a:pPr>
            <a:r>
              <a:rPr lang="en-US" sz="1100" dirty="0">
                <a:solidFill>
                  <a:srgbClr val="6B7C77"/>
                </a:solidFill>
                <a:latin typeface="Manrope" pitchFamily="34" charset="0"/>
                <a:ea typeface="Manrope" pitchFamily="34" charset="-122"/>
                <a:cs typeface="Manrope" pitchFamily="34" charset="-120"/>
              </a:rPr>
              <a:t>10 / 11</a:t>
            </a:r>
            <a:endParaRPr lang="en-US" sz="1100" dirty="0"/>
          </a:p>
        </p:txBody>
      </p:sp>
      <p:sp>
        <p:nvSpPr>
          <p:cNvPr id="5" name="Text 2"/>
          <p:cNvSpPr/>
          <p:nvPr/>
        </p:nvSpPr>
        <p:spPr>
          <a:xfrm>
            <a:off x="685800" y="1051560"/>
            <a:ext cx="10817352" cy="274320"/>
          </a:xfrm>
          <a:prstGeom prst="rect">
            <a:avLst/>
          </a:prstGeom>
          <a:noFill/>
          <a:ln/>
        </p:spPr>
        <p:txBody>
          <a:bodyPr wrap="square" lIns="0" tIns="0" rIns="0" bIns="0" rtlCol="0" anchor="t"/>
          <a:lstStyle/>
          <a:p>
            <a:pPr algn="ctr" indent="0" marL="0">
              <a:buNone/>
            </a:pPr>
            <a:r>
              <a:rPr lang="en-US" sz="1200" b="1" spc="250" kern="0" dirty="0">
                <a:solidFill>
                  <a:srgbClr val="1D9A84"/>
                </a:solidFill>
                <a:latin typeface="Manrope" pitchFamily="34" charset="0"/>
                <a:ea typeface="Manrope" pitchFamily="34" charset="-122"/>
                <a:cs typeface="Manrope" pitchFamily="34" charset="-120"/>
              </a:rPr>
              <a:t>HOW IT WORKS</a:t>
            </a:r>
            <a:endParaRPr lang="en-US" sz="1200" dirty="0"/>
          </a:p>
        </p:txBody>
      </p:sp>
      <p:sp>
        <p:nvSpPr>
          <p:cNvPr id="6" name="Text 3"/>
          <p:cNvSpPr/>
          <p:nvPr/>
        </p:nvSpPr>
        <p:spPr>
          <a:xfrm>
            <a:off x="685800" y="1371600"/>
            <a:ext cx="10817352" cy="822960"/>
          </a:xfrm>
          <a:prstGeom prst="rect">
            <a:avLst/>
          </a:prstGeom>
          <a:noFill/>
          <a:ln/>
        </p:spPr>
        <p:txBody>
          <a:bodyPr wrap="square" lIns="0" tIns="0" rIns="0" bIns="0" rtlCol="0" anchor="t"/>
          <a:lstStyle/>
          <a:p>
            <a:pPr algn="ctr" indent="0" marL="0">
              <a:buNone/>
            </a:pPr>
            <a:r>
              <a:rPr lang="en-US" sz="4200" b="1" dirty="0">
                <a:solidFill>
                  <a:srgbClr val="10201C"/>
                </a:solidFill>
                <a:latin typeface="Fraunces" pitchFamily="34" charset="0"/>
                <a:ea typeface="Fraunces" pitchFamily="34" charset="-122"/>
                <a:cs typeface="Fraunces" pitchFamily="34" charset="-120"/>
              </a:rPr>
              <a:t>Speak. Voxa works. You approve.</a:t>
            </a:r>
            <a:endParaRPr lang="en-US" sz="4200" dirty="0"/>
          </a:p>
        </p:txBody>
      </p:sp>
      <p:sp>
        <p:nvSpPr>
          <p:cNvPr id="7" name="Shape 4"/>
          <p:cNvSpPr/>
          <p:nvPr/>
        </p:nvSpPr>
        <p:spPr>
          <a:xfrm>
            <a:off x="1249528" y="2514600"/>
            <a:ext cx="2651760" cy="2651760"/>
          </a:xfrm>
          <a:prstGeom prst="ellipse">
            <a:avLst/>
          </a:prstGeom>
          <a:solidFill>
            <a:srgbClr val="0F5A4F"/>
          </a:solidFill>
          <a:ln/>
          <a:effectLst>
            <a:outerShdw sx="100000" sy="100000" kx="0" ky="0" algn="bl" rotWithShape="0" blurRad="304800" dist="50800" dir="5400000">
              <a:srgbClr val="0F5A4F">
                <a:alpha val="10000"/>
              </a:srgbClr>
            </a:outerShdw>
          </a:effectLst>
        </p:spPr>
      </p:sp>
      <p:sp>
        <p:nvSpPr>
          <p:cNvPr id="8" name="Text 5"/>
          <p:cNvSpPr/>
          <p:nvPr/>
        </p:nvSpPr>
        <p:spPr>
          <a:xfrm>
            <a:off x="1249528" y="2926080"/>
            <a:ext cx="2651760" cy="457200"/>
          </a:xfrm>
          <a:prstGeom prst="rect">
            <a:avLst/>
          </a:prstGeom>
          <a:noFill/>
          <a:ln/>
        </p:spPr>
        <p:txBody>
          <a:bodyPr wrap="square" lIns="0" tIns="0" rIns="0" bIns="0" rtlCol="0" anchor="ctr"/>
          <a:lstStyle/>
          <a:p>
            <a:pPr algn="ctr" indent="0" marL="0">
              <a:buNone/>
            </a:pPr>
            <a:r>
              <a:rPr lang="en-US" sz="1400" b="1" dirty="0">
                <a:solidFill>
                  <a:srgbClr val="A9D6C9"/>
                </a:solidFill>
                <a:latin typeface="Manrope" pitchFamily="34" charset="0"/>
                <a:ea typeface="Manrope" pitchFamily="34" charset="-122"/>
                <a:cs typeface="Manrope" pitchFamily="34" charset="-120"/>
              </a:rPr>
              <a:t>1</a:t>
            </a:r>
            <a:endParaRPr lang="en-US" sz="1400" dirty="0"/>
          </a:p>
        </p:txBody>
      </p:sp>
      <p:sp>
        <p:nvSpPr>
          <p:cNvPr id="9" name="Text 6"/>
          <p:cNvSpPr/>
          <p:nvPr/>
        </p:nvSpPr>
        <p:spPr>
          <a:xfrm>
            <a:off x="1249528" y="3383280"/>
            <a:ext cx="265176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Fraunces" pitchFamily="34" charset="0"/>
                <a:ea typeface="Fraunces" pitchFamily="34" charset="-122"/>
                <a:cs typeface="Fraunces" pitchFamily="34" charset="-120"/>
              </a:rPr>
              <a:t>Speak</a:t>
            </a:r>
            <a:endParaRPr lang="en-US" sz="2800" dirty="0"/>
          </a:p>
        </p:txBody>
      </p:sp>
      <p:sp>
        <p:nvSpPr>
          <p:cNvPr id="10" name="Text 7"/>
          <p:cNvSpPr/>
          <p:nvPr/>
        </p:nvSpPr>
        <p:spPr>
          <a:xfrm>
            <a:off x="1066648" y="5349240"/>
            <a:ext cx="3017520" cy="685800"/>
          </a:xfrm>
          <a:prstGeom prst="rect">
            <a:avLst/>
          </a:prstGeom>
          <a:noFill/>
          <a:ln/>
        </p:spPr>
        <p:txBody>
          <a:bodyPr wrap="square" lIns="0" tIns="0" rIns="0" bIns="0" rtlCol="0" anchor="ctr"/>
          <a:lstStyle/>
          <a:p>
            <a:pPr algn="ctr" indent="0" marL="0">
              <a:buNone/>
            </a:pPr>
            <a:r>
              <a:rPr lang="en-US" sz="1500" dirty="0">
                <a:solidFill>
                  <a:srgbClr val="3E504B"/>
                </a:solidFill>
                <a:latin typeface="Manrope" pitchFamily="34" charset="0"/>
                <a:ea typeface="Manrope" pitchFamily="34" charset="-122"/>
                <a:cs typeface="Manrope" pitchFamily="34" charset="-120"/>
              </a:rPr>
              <a:t>Tap the mic and say it the way you would say it.</a:t>
            </a:r>
            <a:endParaRPr lang="en-US" sz="1500" dirty="0"/>
          </a:p>
        </p:txBody>
      </p:sp>
      <p:sp>
        <p:nvSpPr>
          <p:cNvPr id="11" name="Shape 8"/>
          <p:cNvSpPr/>
          <p:nvPr/>
        </p:nvSpPr>
        <p:spPr>
          <a:xfrm>
            <a:off x="4102456" y="3657600"/>
            <a:ext cx="457200" cy="365760"/>
          </a:xfrm>
          <a:prstGeom prst="rightArrow">
            <a:avLst/>
          </a:prstGeom>
          <a:solidFill>
            <a:srgbClr val="1D9A84"/>
          </a:solidFill>
          <a:ln/>
        </p:spPr>
      </p:sp>
      <p:sp>
        <p:nvSpPr>
          <p:cNvPr id="12" name="Shape 9"/>
          <p:cNvSpPr/>
          <p:nvPr/>
        </p:nvSpPr>
        <p:spPr>
          <a:xfrm>
            <a:off x="4769968" y="2514600"/>
            <a:ext cx="2651760" cy="2651760"/>
          </a:xfrm>
          <a:prstGeom prst="ellipse">
            <a:avLst/>
          </a:prstGeom>
          <a:solidFill>
            <a:srgbClr val="E3F1EC"/>
          </a:solidFill>
          <a:ln/>
          <a:effectLst>
            <a:outerShdw sx="100000" sy="100000" kx="0" ky="0" algn="bl" rotWithShape="0" blurRad="304800" dist="50800" dir="5400000">
              <a:srgbClr val="0F5A4F">
                <a:alpha val="10000"/>
              </a:srgbClr>
            </a:outerShdw>
          </a:effectLst>
        </p:spPr>
      </p:sp>
      <p:sp>
        <p:nvSpPr>
          <p:cNvPr id="13" name="Text 10"/>
          <p:cNvSpPr/>
          <p:nvPr/>
        </p:nvSpPr>
        <p:spPr>
          <a:xfrm>
            <a:off x="4769968" y="2926080"/>
            <a:ext cx="2651760" cy="457200"/>
          </a:xfrm>
          <a:prstGeom prst="rect">
            <a:avLst/>
          </a:prstGeom>
          <a:noFill/>
          <a:ln/>
        </p:spPr>
        <p:txBody>
          <a:bodyPr wrap="square" lIns="0" tIns="0" rIns="0" bIns="0" rtlCol="0" anchor="ctr"/>
          <a:lstStyle/>
          <a:p>
            <a:pPr algn="ctr" indent="0" marL="0">
              <a:buNone/>
            </a:pPr>
            <a:r>
              <a:rPr lang="en-US" sz="1400" b="1" dirty="0">
                <a:solidFill>
                  <a:srgbClr val="1D9A84"/>
                </a:solidFill>
                <a:latin typeface="Manrope" pitchFamily="34" charset="0"/>
                <a:ea typeface="Manrope" pitchFamily="34" charset="-122"/>
                <a:cs typeface="Manrope" pitchFamily="34" charset="-120"/>
              </a:rPr>
              <a:t>2</a:t>
            </a:r>
            <a:endParaRPr lang="en-US" sz="1400" dirty="0"/>
          </a:p>
        </p:txBody>
      </p:sp>
      <p:sp>
        <p:nvSpPr>
          <p:cNvPr id="14" name="Text 11"/>
          <p:cNvSpPr/>
          <p:nvPr/>
        </p:nvSpPr>
        <p:spPr>
          <a:xfrm>
            <a:off x="4769968" y="3383280"/>
            <a:ext cx="2651760" cy="731520"/>
          </a:xfrm>
          <a:prstGeom prst="rect">
            <a:avLst/>
          </a:prstGeom>
          <a:noFill/>
          <a:ln/>
        </p:spPr>
        <p:txBody>
          <a:bodyPr wrap="square" lIns="0" tIns="0" rIns="0" bIns="0" rtlCol="0" anchor="ctr"/>
          <a:lstStyle/>
          <a:p>
            <a:pPr algn="ctr" indent="0" marL="0">
              <a:buNone/>
            </a:pPr>
            <a:r>
              <a:rPr lang="en-US" sz="2800" b="1" dirty="0">
                <a:solidFill>
                  <a:srgbClr val="0F5A4F"/>
                </a:solidFill>
                <a:latin typeface="Fraunces" pitchFamily="34" charset="0"/>
                <a:ea typeface="Fraunces" pitchFamily="34" charset="-122"/>
                <a:cs typeface="Fraunces" pitchFamily="34" charset="-120"/>
              </a:rPr>
              <a:t>Voxa works</a:t>
            </a:r>
            <a:endParaRPr lang="en-US" sz="2800" dirty="0"/>
          </a:p>
        </p:txBody>
      </p:sp>
      <p:sp>
        <p:nvSpPr>
          <p:cNvPr id="15" name="Text 12"/>
          <p:cNvSpPr/>
          <p:nvPr/>
        </p:nvSpPr>
        <p:spPr>
          <a:xfrm>
            <a:off x="4587088" y="5349240"/>
            <a:ext cx="3017520" cy="685800"/>
          </a:xfrm>
          <a:prstGeom prst="rect">
            <a:avLst/>
          </a:prstGeom>
          <a:noFill/>
          <a:ln/>
        </p:spPr>
        <p:txBody>
          <a:bodyPr wrap="square" lIns="0" tIns="0" rIns="0" bIns="0" rtlCol="0" anchor="ctr"/>
          <a:lstStyle/>
          <a:p>
            <a:pPr algn="ctr" indent="0" marL="0">
              <a:buNone/>
            </a:pPr>
            <a:r>
              <a:rPr lang="en-US" sz="1500" dirty="0">
                <a:solidFill>
                  <a:srgbClr val="3E504B"/>
                </a:solidFill>
                <a:latin typeface="Manrope" pitchFamily="34" charset="0"/>
                <a:ea typeface="Manrope" pitchFamily="34" charset="-122"/>
                <a:cs typeface="Manrope" pitchFamily="34" charset="-120"/>
              </a:rPr>
              <a:t>Drafts, research, sorting and reminders.</a:t>
            </a:r>
            <a:endParaRPr lang="en-US" sz="1500" dirty="0"/>
          </a:p>
        </p:txBody>
      </p:sp>
      <p:sp>
        <p:nvSpPr>
          <p:cNvPr id="16" name="Shape 13"/>
          <p:cNvSpPr/>
          <p:nvPr/>
        </p:nvSpPr>
        <p:spPr>
          <a:xfrm>
            <a:off x="7622896" y="3657600"/>
            <a:ext cx="457200" cy="365760"/>
          </a:xfrm>
          <a:prstGeom prst="rightArrow">
            <a:avLst/>
          </a:prstGeom>
          <a:solidFill>
            <a:srgbClr val="1D9A84"/>
          </a:solidFill>
          <a:ln/>
        </p:spPr>
      </p:sp>
      <p:sp>
        <p:nvSpPr>
          <p:cNvPr id="17" name="Shape 14"/>
          <p:cNvSpPr/>
          <p:nvPr/>
        </p:nvSpPr>
        <p:spPr>
          <a:xfrm>
            <a:off x="8290408" y="2514600"/>
            <a:ext cx="2651760" cy="2651760"/>
          </a:xfrm>
          <a:prstGeom prst="ellipse">
            <a:avLst/>
          </a:prstGeom>
          <a:solidFill>
            <a:srgbClr val="0F5A4F"/>
          </a:solidFill>
          <a:ln/>
          <a:effectLst>
            <a:outerShdw sx="100000" sy="100000" kx="0" ky="0" algn="bl" rotWithShape="0" blurRad="304800" dist="50800" dir="5400000">
              <a:srgbClr val="0F5A4F">
                <a:alpha val="10000"/>
              </a:srgbClr>
            </a:outerShdw>
          </a:effectLst>
        </p:spPr>
      </p:sp>
      <p:sp>
        <p:nvSpPr>
          <p:cNvPr id="18" name="Text 15"/>
          <p:cNvSpPr/>
          <p:nvPr/>
        </p:nvSpPr>
        <p:spPr>
          <a:xfrm>
            <a:off x="8290408" y="2926080"/>
            <a:ext cx="2651760" cy="457200"/>
          </a:xfrm>
          <a:prstGeom prst="rect">
            <a:avLst/>
          </a:prstGeom>
          <a:noFill/>
          <a:ln/>
        </p:spPr>
        <p:txBody>
          <a:bodyPr wrap="square" lIns="0" tIns="0" rIns="0" bIns="0" rtlCol="0" anchor="ctr"/>
          <a:lstStyle/>
          <a:p>
            <a:pPr algn="ctr" indent="0" marL="0">
              <a:buNone/>
            </a:pPr>
            <a:r>
              <a:rPr lang="en-US" sz="1400" b="1" dirty="0">
                <a:solidFill>
                  <a:srgbClr val="A9D6C9"/>
                </a:solidFill>
                <a:latin typeface="Manrope" pitchFamily="34" charset="0"/>
                <a:ea typeface="Manrope" pitchFamily="34" charset="-122"/>
                <a:cs typeface="Manrope" pitchFamily="34" charset="-120"/>
              </a:rPr>
              <a:t>3</a:t>
            </a:r>
            <a:endParaRPr lang="en-US" sz="1400" dirty="0"/>
          </a:p>
        </p:txBody>
      </p:sp>
      <p:sp>
        <p:nvSpPr>
          <p:cNvPr id="19" name="Text 16"/>
          <p:cNvSpPr/>
          <p:nvPr/>
        </p:nvSpPr>
        <p:spPr>
          <a:xfrm>
            <a:off x="8290408" y="3383280"/>
            <a:ext cx="2651760" cy="731520"/>
          </a:xfrm>
          <a:prstGeom prst="rect">
            <a:avLst/>
          </a:prstGeom>
          <a:noFill/>
          <a:ln/>
        </p:spPr>
        <p:txBody>
          <a:bodyPr wrap="square" lIns="0" tIns="0" rIns="0" bIns="0" rtlCol="0" anchor="ctr"/>
          <a:lstStyle/>
          <a:p>
            <a:pPr algn="ctr" indent="0" marL="0">
              <a:buNone/>
            </a:pPr>
            <a:r>
              <a:rPr lang="en-US" sz="2800" b="1" dirty="0">
                <a:solidFill>
                  <a:srgbClr val="FFFFFF"/>
                </a:solidFill>
                <a:latin typeface="Fraunces" pitchFamily="34" charset="0"/>
                <a:ea typeface="Fraunces" pitchFamily="34" charset="-122"/>
                <a:cs typeface="Fraunces" pitchFamily="34" charset="-120"/>
              </a:rPr>
              <a:t>You approve</a:t>
            </a:r>
            <a:endParaRPr lang="en-US" sz="2800" dirty="0"/>
          </a:p>
        </p:txBody>
      </p:sp>
      <p:sp>
        <p:nvSpPr>
          <p:cNvPr id="20" name="Text 17"/>
          <p:cNvSpPr/>
          <p:nvPr/>
        </p:nvSpPr>
        <p:spPr>
          <a:xfrm>
            <a:off x="8107528" y="5349240"/>
            <a:ext cx="3017520" cy="685800"/>
          </a:xfrm>
          <a:prstGeom prst="rect">
            <a:avLst/>
          </a:prstGeom>
          <a:noFill/>
          <a:ln/>
        </p:spPr>
        <p:txBody>
          <a:bodyPr wrap="square" lIns="0" tIns="0" rIns="0" bIns="0" rtlCol="0" anchor="ctr"/>
          <a:lstStyle/>
          <a:p>
            <a:pPr algn="ctr" indent="0" marL="0">
              <a:buNone/>
            </a:pPr>
            <a:r>
              <a:rPr lang="en-US" sz="1500" dirty="0">
                <a:solidFill>
                  <a:srgbClr val="3E504B"/>
                </a:solidFill>
                <a:latin typeface="Manrope" pitchFamily="34" charset="0"/>
                <a:ea typeface="Manrope" pitchFamily="34" charset="-122"/>
                <a:cs typeface="Manrope" pitchFamily="34" charset="-120"/>
              </a:rPr>
              <a:t>Nothing goes out until you tap.</a:t>
            </a:r>
            <a:endParaRPr lang="en-US" sz="1500" dirty="0"/>
          </a:p>
        </p:txBody>
      </p:sp>
      <p:sp>
        <p:nvSpPr>
          <p:cNvPr id="21" name="Text 18"/>
          <p:cNvSpPr/>
          <p:nvPr/>
        </p:nvSpPr>
        <p:spPr>
          <a:xfrm>
            <a:off x="685800" y="6199632"/>
            <a:ext cx="10817352" cy="320040"/>
          </a:xfrm>
          <a:prstGeom prst="rect">
            <a:avLst/>
          </a:prstGeom>
          <a:noFill/>
          <a:ln/>
        </p:spPr>
        <p:txBody>
          <a:bodyPr wrap="square" lIns="0" tIns="0" rIns="0" bIns="0" rtlCol="0" anchor="ctr"/>
          <a:lstStyle/>
          <a:p>
            <a:pPr algn="ctr" indent="0" marL="0">
              <a:buNone/>
            </a:pPr>
            <a:r>
              <a:rPr lang="en-US" sz="1300" dirty="0">
                <a:solidFill>
                  <a:srgbClr val="6B7C77"/>
                </a:solidFill>
                <a:latin typeface="Manrope" pitchFamily="34" charset="0"/>
                <a:ea typeface="Manrope" pitchFamily="34" charset="-122"/>
                <a:cs typeface="Manrope" pitchFamily="34" charset="-120"/>
              </a:rPr>
              <a:t>What you say is sent to our AI provider so it can reply.</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3F1EC"/>
        </a:solidFill>
      </p:bgPr>
    </p:bg>
    <p:spTree>
      <p:nvGrpSpPr>
        <p:cNvPr id="1" name=""/>
        <p:cNvGrpSpPr/>
        <p:nvPr/>
      </p:nvGrpSpPr>
      <p:grpSpPr>
        <a:xfrm>
          <a:off x="0" y="0"/>
          <a:ext cx="0" cy="0"/>
          <a:chOff x="0" y="0"/>
          <a:chExt cx="0" cy="0"/>
        </a:xfrm>
      </p:grpSpPr>
      <p:pic>
        <p:nvPicPr>
          <p:cNvPr id="2" name="Image 0" descr="/workspace/slides/voxa-pitch-CTbDK0/assets/voxa-mark.png">    </p:cNvPr>
          <p:cNvPicPr>
            <a:picLocks noChangeAspect="1"/>
          </p:cNvPicPr>
          <p:nvPr/>
        </p:nvPicPr>
        <p:blipFill>
          <a:blip r:embed="rId1"/>
          <a:stretch>
            <a:fillRect/>
          </a:stretch>
        </p:blipFill>
        <p:spPr>
          <a:xfrm>
            <a:off x="685800" y="685800"/>
            <a:ext cx="566928" cy="566928"/>
          </a:xfrm>
          <a:prstGeom prst="rect">
            <a:avLst/>
          </a:prstGeom>
        </p:spPr>
      </p:pic>
      <p:sp>
        <p:nvSpPr>
          <p:cNvPr id="3" name="Text 0"/>
          <p:cNvSpPr/>
          <p:nvPr/>
        </p:nvSpPr>
        <p:spPr>
          <a:xfrm>
            <a:off x="1371600" y="667512"/>
            <a:ext cx="2743200" cy="603504"/>
          </a:xfrm>
          <a:prstGeom prst="rect">
            <a:avLst/>
          </a:prstGeom>
          <a:noFill/>
          <a:ln/>
        </p:spPr>
        <p:txBody>
          <a:bodyPr wrap="square" lIns="0" tIns="0" rIns="0" bIns="0" rtlCol="0" anchor="ctr"/>
          <a:lstStyle/>
          <a:p>
            <a:pPr indent="0" marL="0">
              <a:buNone/>
            </a:pPr>
            <a:r>
              <a:rPr lang="en-US" sz="3000" b="1" dirty="0">
                <a:solidFill>
                  <a:srgbClr val="10201C"/>
                </a:solidFill>
                <a:latin typeface="Fraunces" pitchFamily="34" charset="0"/>
                <a:ea typeface="Fraunces" pitchFamily="34" charset="-122"/>
                <a:cs typeface="Fraunces" pitchFamily="34" charset="-120"/>
              </a:rPr>
              <a:t>Voxa</a:t>
            </a:r>
            <a:endParaRPr lang="en-US" sz="3000" dirty="0"/>
          </a:p>
        </p:txBody>
      </p:sp>
      <p:sp>
        <p:nvSpPr>
          <p:cNvPr id="4" name="Text 1"/>
          <p:cNvSpPr/>
          <p:nvPr/>
        </p:nvSpPr>
        <p:spPr>
          <a:xfrm>
            <a:off x="685800" y="2103120"/>
            <a:ext cx="6583680" cy="1097280"/>
          </a:xfrm>
          <a:prstGeom prst="rect">
            <a:avLst/>
          </a:prstGeom>
          <a:noFill/>
          <a:ln/>
        </p:spPr>
        <p:txBody>
          <a:bodyPr wrap="square" lIns="0" tIns="0" rIns="0" bIns="0" rtlCol="0" anchor="t"/>
          <a:lstStyle/>
          <a:p>
            <a:pPr indent="0" marL="0">
              <a:buNone/>
            </a:pPr>
            <a:r>
              <a:rPr lang="en-US" sz="6000" b="1" dirty="0">
                <a:solidFill>
                  <a:srgbClr val="0F5A4F"/>
                </a:solidFill>
                <a:latin typeface="Fraunces" pitchFamily="34" charset="0"/>
                <a:ea typeface="Fraunces" pitchFamily="34" charset="-122"/>
                <a:cs typeface="Fraunces" pitchFamily="34" charset="-120"/>
              </a:rPr>
              <a:t>Join the waitlist.</a:t>
            </a:r>
            <a:endParaRPr lang="en-US" sz="6000" dirty="0"/>
          </a:p>
        </p:txBody>
      </p:sp>
      <p:sp>
        <p:nvSpPr>
          <p:cNvPr id="5" name="Text 2"/>
          <p:cNvSpPr/>
          <p:nvPr/>
        </p:nvSpPr>
        <p:spPr>
          <a:xfrm>
            <a:off x="685800" y="3520440"/>
            <a:ext cx="6400800" cy="411480"/>
          </a:xfrm>
          <a:prstGeom prst="rect">
            <a:avLst/>
          </a:prstGeom>
          <a:noFill/>
          <a:ln/>
        </p:spPr>
        <p:txBody>
          <a:bodyPr wrap="square" lIns="0" tIns="0" rIns="0" bIns="0" rtlCol="0" anchor="t"/>
          <a:lstStyle/>
          <a:p>
            <a:pPr indent="0" marL="0">
              <a:lnSpc>
                <a:spcPct val="130000"/>
              </a:lnSpc>
              <a:buNone/>
            </a:pPr>
            <a:r>
              <a:rPr lang="en-US" sz="1900" dirty="0">
                <a:solidFill>
                  <a:srgbClr val="3E504B"/>
                </a:solidFill>
                <a:latin typeface="Manrope" pitchFamily="34" charset="0"/>
                <a:ea typeface="Manrope" pitchFamily="34" charset="-122"/>
                <a:cs typeface="Manrope" pitchFamily="34" charset="-120"/>
              </a:rPr>
              <a:t>Scan the code, or visit</a:t>
            </a:r>
            <a:endParaRPr lang="en-US" sz="1900" dirty="0"/>
          </a:p>
        </p:txBody>
      </p:sp>
      <p:sp>
        <p:nvSpPr>
          <p:cNvPr id="6" name="Text 3">
            <a:hlinkClick r:id="rId2" tooltip=""/>
          </p:cNvPr>
          <p:cNvSpPr/>
          <p:nvPr/>
        </p:nvSpPr>
        <p:spPr>
          <a:xfrm>
            <a:off x="685800" y="3931920"/>
            <a:ext cx="6583680" cy="548640"/>
          </a:xfrm>
          <a:prstGeom prst="rect">
            <a:avLst/>
          </a:prstGeom>
          <a:noFill/>
          <a:ln/>
        </p:spPr>
        <p:txBody>
          <a:bodyPr wrap="square" lIns="0" tIns="0" rIns="0" bIns="0" rtlCol="0" anchor="ctr"/>
          <a:lstStyle/>
          <a:p>
            <a:pPr indent="0" marL="0">
              <a:buNone/>
            </a:pPr>
            <a:r>
              <a:rPr lang="en-US" sz="2600" b="1" u="sng" dirty="0">
                <a:solidFill>
                  <a:srgbClr val="10201C"/>
                </a:solidFill>
                <a:latin typeface="Manrope" pitchFamily="34" charset="0"/>
                <a:ea typeface="Manrope" pitchFamily="34" charset="-122"/>
                <a:cs typeface="Manrope" pitchFamily="34" charset="-120"/>
                <a:hlinkClick r:id="rId2" invalidUrl="" action="" tgtFrame="" tooltip="" history="1" highlightClick="0" endSnd="0">
                  <a:extLst>
                    <a:ext uri="{A12FA001-AC4F-418D-AE19-62706E023703}">
                      <ahyp:hlinkClr xmlns:ahyp="http://schemas.microsoft.com/office/drawing/2018/hyperlinkcolor" val="tx"/>
                    </a:ext>
                  </a:extLst>
                </a:hlinkClick>
              </a:rPr>
              <a:t>eriqbre.github.io/voxa-site</a:t>
            </a:r>
            <a:endParaRPr lang="en-US" sz="2600" dirty="0"/>
          </a:p>
        </p:txBody>
      </p:sp>
      <p:sp>
        <p:nvSpPr>
          <p:cNvPr id="7" name="Shape 4"/>
          <p:cNvSpPr/>
          <p:nvPr/>
        </p:nvSpPr>
        <p:spPr>
          <a:xfrm>
            <a:off x="685800" y="4937760"/>
            <a:ext cx="3291840" cy="566928"/>
          </a:xfrm>
          <a:prstGeom prst="roundRect">
            <a:avLst>
              <a:gd name="adj" fmla="val 50000"/>
            </a:avLst>
          </a:prstGeom>
          <a:solidFill>
            <a:srgbClr val="0F5A4F"/>
          </a:solidFill>
          <a:ln w="12700">
            <a:solidFill>
              <a:srgbClr val="0F5A4F"/>
            </a:solidFill>
            <a:prstDash val="solid"/>
          </a:ln>
        </p:spPr>
      </p:sp>
      <p:sp>
        <p:nvSpPr>
          <p:cNvPr id="8" name="Shape 5"/>
          <p:cNvSpPr/>
          <p:nvPr/>
        </p:nvSpPr>
        <p:spPr>
          <a:xfrm>
            <a:off x="777240" y="5084064"/>
            <a:ext cx="274320" cy="274320"/>
          </a:xfrm>
          <a:prstGeom prst="ellipse">
            <a:avLst/>
          </a:prstGeom>
          <a:solidFill>
            <a:srgbClr val="1D9A84"/>
          </a:solidFill>
          <a:ln/>
        </p:spPr>
      </p:sp>
      <p:sp>
        <p:nvSpPr>
          <p:cNvPr id="9" name="Text 6"/>
          <p:cNvSpPr/>
          <p:nvPr/>
        </p:nvSpPr>
        <p:spPr>
          <a:xfrm>
            <a:off x="777240" y="508406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Manrope" pitchFamily="34" charset="0"/>
                <a:ea typeface="Manrope" pitchFamily="34" charset="-122"/>
                <a:cs typeface="Manrope" pitchFamily="34" charset="-120"/>
              </a:rPr>
              <a:t>✓</a:t>
            </a:r>
            <a:endParaRPr lang="en-US" sz="1200" dirty="0"/>
          </a:p>
        </p:txBody>
      </p:sp>
      <p:sp>
        <p:nvSpPr>
          <p:cNvPr id="10" name="Text 7"/>
          <p:cNvSpPr/>
          <p:nvPr/>
        </p:nvSpPr>
        <p:spPr>
          <a:xfrm>
            <a:off x="1143000" y="4937760"/>
            <a:ext cx="2743200" cy="566928"/>
          </a:xfrm>
          <a:prstGeom prst="rect">
            <a:avLst/>
          </a:prstGeom>
          <a:noFill/>
          <a:ln/>
        </p:spPr>
        <p:txBody>
          <a:bodyPr wrap="square" lIns="0" tIns="0" rIns="0" bIns="0" rtlCol="0" anchor="ctr"/>
          <a:lstStyle/>
          <a:p>
            <a:pPr algn="l" indent="0" marL="0">
              <a:buNone/>
            </a:pPr>
            <a:r>
              <a:rPr lang="en-US" sz="1600" b="1" dirty="0">
                <a:solidFill>
                  <a:srgbClr val="FFFFFF"/>
                </a:solidFill>
                <a:latin typeface="Manrope" pitchFamily="34" charset="0"/>
                <a:ea typeface="Manrope" pitchFamily="34" charset="-122"/>
                <a:cs typeface="Manrope" pitchFamily="34" charset="-120"/>
              </a:rPr>
              <a:t>Ask Eriq for a demo.</a:t>
            </a:r>
            <a:endParaRPr lang="en-US" sz="1600" dirty="0"/>
          </a:p>
        </p:txBody>
      </p:sp>
      <p:sp>
        <p:nvSpPr>
          <p:cNvPr id="11" name="Shape 8"/>
          <p:cNvSpPr/>
          <p:nvPr/>
        </p:nvSpPr>
        <p:spPr>
          <a:xfrm>
            <a:off x="7726680" y="1325880"/>
            <a:ext cx="3840480" cy="4206240"/>
          </a:xfrm>
          <a:prstGeom prst="roundRect">
            <a:avLst>
              <a:gd name="adj" fmla="val 8333"/>
            </a:avLst>
          </a:prstGeom>
          <a:solidFill>
            <a:srgbClr val="FFFFFF"/>
          </a:solidFill>
          <a:ln/>
          <a:effectLst>
            <a:outerShdw sx="100000" sy="100000" kx="0" ky="0" algn="bl" rotWithShape="0" blurRad="304800" dist="50800" dir="5400000">
              <a:srgbClr val="0F5A4F">
                <a:alpha val="10000"/>
              </a:srgbClr>
            </a:outerShdw>
          </a:effectLst>
        </p:spPr>
      </p:sp>
      <p:pic>
        <p:nvPicPr>
          <p:cNvPr id="12" name="Image 1" descr="/workspace/slides/voxa-pitch-CTbDK0/assets/qr.png">    </p:cNvPr>
          <p:cNvPicPr>
            <a:picLocks noChangeAspect="1"/>
          </p:cNvPicPr>
          <p:nvPr/>
        </p:nvPicPr>
        <p:blipFill>
          <a:blip r:embed="rId3"/>
          <a:stretch>
            <a:fillRect/>
          </a:stretch>
        </p:blipFill>
        <p:spPr>
          <a:xfrm>
            <a:off x="8092440" y="1645920"/>
            <a:ext cx="3108960" cy="3108960"/>
          </a:xfrm>
          <a:prstGeom prst="rect">
            <a:avLst/>
          </a:prstGeom>
        </p:spPr>
      </p:pic>
      <p:sp>
        <p:nvSpPr>
          <p:cNvPr id="13" name="Text 9"/>
          <p:cNvSpPr/>
          <p:nvPr/>
        </p:nvSpPr>
        <p:spPr>
          <a:xfrm>
            <a:off x="7726680" y="4846320"/>
            <a:ext cx="3840480" cy="411480"/>
          </a:xfrm>
          <a:prstGeom prst="rect">
            <a:avLst/>
          </a:prstGeom>
          <a:noFill/>
          <a:ln/>
        </p:spPr>
        <p:txBody>
          <a:bodyPr wrap="square" lIns="0" tIns="0" rIns="0" bIns="0" rtlCol="0" anchor="ctr"/>
          <a:lstStyle/>
          <a:p>
            <a:pPr algn="ctr" indent="0" marL="0">
              <a:buNone/>
            </a:pPr>
            <a:r>
              <a:rPr lang="en-US" sz="1500" b="1" dirty="0">
                <a:solidFill>
                  <a:srgbClr val="3E504B"/>
                </a:solidFill>
                <a:latin typeface="Manrope" pitchFamily="34" charset="0"/>
                <a:ea typeface="Manrope" pitchFamily="34" charset="-122"/>
                <a:cs typeface="Manrope" pitchFamily="34" charset="-120"/>
              </a:rPr>
              <a:t>Voxa waitlist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Fraunce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nrop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Voxa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Voxa: Just say it. Voxa handles it.</dc:title>
  <dc:subject>PptxGenJS Presentation</dc:subject>
  <dc:creator>Eriq Breland</dc:creator>
  <cp:lastModifiedBy>Eriq Breland</cp:lastModifiedBy>
  <cp:revision>1</cp:revision>
  <dcterms:created xsi:type="dcterms:W3CDTF">2026-10-20T19:24:51Z</dcterms:created>
  <dcterms:modified xsi:type="dcterms:W3CDTF">2026-10-20T19:24:51Z</dcterms:modified>
</cp:coreProperties>
</file>